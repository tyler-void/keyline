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</p:sldIdLst>
  <p:sldSz cx="12192000" cy="6858000"/>
  <p:notesSz cx="6858000" cy="9144000"/>
  <p:defaultTextStyle>
    <a:lvl1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1pPr>
    <a:lvl2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2pPr>
    <a:lvl3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3pPr>
    <a:lvl4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4pPr>
    <a:lvl5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5pPr>
    <a:lvl6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6pPr>
    <a:lvl7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7pPr>
    <a:lvl8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8pPr>
    <a:lvl9pPr marL="0" indent="0" algn="l">
      <a:lnSpc>
        <a:spcPct val="110000"/>
      </a:lnSpc>
      <a:spcBef>
        <a:spcPts val="0"/>
      </a:spcBef>
      <a:spcAft>
        <a:spcPts val="600"/>
      </a:spcAft>
      <a:buNone/>
      <a:defRPr sz="2400" b="0" i="0" spc="0">
        <a:solidFill>
          <a:srgbClr val="111111"/>
        </a:solidFill>
        <a:latin typeface="+mn-lt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90000" cy="900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it, then wait.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Twelve thousand four hundred trees.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Seventy-one percent after ninety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End on the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80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149000"/>
            <a:ext cx="9230000" cy="14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ection"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2529000"/>
            <a:ext cx="9230000" cy="162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F2F2F0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329000"/>
            <a:ext cx="9230000" cy="36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E8422E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729000"/>
            <a:ext cx="9230000" cy="279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0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evidence: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3048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2349000"/>
            <a:ext cx="7348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Side"/>
          <p:cNvSpPr>
            <a:spLocks noGrp="1"/>
          </p:cNvSpPr>
          <p:nvPr>
            <p:ph type="body" idx="2" hasCustomPrompt="1"/>
          </p:nvPr>
        </p:nvSpPr>
        <p:spPr>
          <a:xfrm>
            <a:off x="8068000" y="2349000"/>
            <a:ext cx="3584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5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089000"/>
            <a:ext cx="9230000" cy="360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400" b="0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4869000"/>
            <a:ext cx="9230000" cy="2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i="0" cap="all" spc="112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line: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540000" y="1269000"/>
            <a:ext cx="9230000" cy="2160000"/>
          </a:xfrm>
          <a:prstGeom prst="rect">
            <a:avLst/>
          </a:prstGeom>
          <a:noFill/>
        </p:spPr>
        <p:txBody>
          <a:bodyPr vert="horz" wrap="square" lIns="0" tIns="0" rIns="0" bIns="4191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66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 hasCustomPrompt="1"/>
          </p:nvPr>
        </p:nvSpPr>
        <p:spPr>
          <a:xfrm>
            <a:off x="540000" y="3609000"/>
            <a:ext cx="9230000" cy="207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8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 hasCustomPrompt="1"/>
          </p:nvPr>
        </p:nvSpPr>
        <p:spPr>
          <a:xfrm>
            <a:off x="540000" y="5769000"/>
            <a:ext cx="11112000" cy="54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 spc="0">
                <a:solidFill>
                  <a:srgbClr val="5C5C5A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Source: …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0000" y="549000"/>
            <a:ext cx="11112000" cy="15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800" b="1" i="0" spc="0">
                <a:solidFill>
                  <a:srgbClr val="111111"/>
                </a:solidFill>
                <a:latin typeface="+mj-lt"/>
                <a:cs typeface="+mj-cs"/>
              </a:defRPr>
            </a:lvl1pPr>
          </a:lstStyle>
          <a:p>
            <a:r>
              <a:rPr lang="en-US"/>
              <a:t>Headline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>
          <a:xfrm>
            <a:off x="540000" y="2349000"/>
            <a:ext cx="11112000" cy="3330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  <a:defRPr sz="2400" b="0" i="0" spc="0">
                <a:solidFill>
                  <a:srgbClr val="111111"/>
                </a:solidFill>
                <a:latin typeface="+mn-lt"/>
                <a:cs typeface="+mn-cs"/>
              </a:defRPr>
            </a:lvl1pPr>
          </a:lstStyle>
          <a:p>
            <a:r>
              <a:rPr lang="en-US"/>
              <a:t>Text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1pPr>
      <a:lvl2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2pPr>
      <a:lvl3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3pPr>
      <a:lvl4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4pPr>
      <a:lvl5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5pPr>
      <a:lvl6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6pPr>
      <a:lvl7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7pPr>
      <a:lvl8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8pPr>
      <a:lvl9pPr marL="0" indent="0" algn="l">
        <a:lnSpc>
          <a:spcPct val="100000"/>
        </a:lnSpc>
        <a:spcBef>
          <a:spcPts val="0"/>
        </a:spcBef>
        <a:spcAft>
          <a:spcPts val="0"/>
        </a:spcAft>
        <a:buNone/>
        <a:defRPr sz="4800" b="1" i="0" spc="0">
          <a:solidFill>
            <a:srgbClr val="111111"/>
          </a:solidFill>
          <a:latin typeface="+mj-lt"/>
          <a:cs typeface="+mj-cs"/>
        </a:defRPr>
      </a:lvl9pPr>
    </p:titleStyle>
    <p:body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bodyStyle>
    <p:otherStyle>
      <a:lvl1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1pPr>
      <a:lvl2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2pPr>
      <a:lvl3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3pPr>
      <a:lvl4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4pPr>
      <a:lvl5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5pPr>
      <a:lvl6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6pPr>
      <a:lvl7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7pPr>
      <a:lvl8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8pPr>
      <a:lvl9pPr marL="0" indent="0" algn="l">
        <a:lnSpc>
          <a:spcPct val="110000"/>
        </a:lnSpc>
        <a:spcBef>
          <a:spcPts val="0"/>
        </a:spcBef>
        <a:spcAft>
          <a:spcPts val="600"/>
        </a:spcAft>
        <a:buNone/>
        <a:defRPr sz="2400" b="0" i="0" spc="0">
          <a:solidFill>
            <a:srgbClr val="111111"/>
          </a:solidFill>
          <a:latin typeface="+mn-lt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  <a:cs typeface="+mj-cs"/>
              </a:rPr>
              <a:t>BonsaiHub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  <a:cs typeface="+mn-cs"/>
              </a:rPr>
              <a:t>A slow dating app for trees and their keepers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spc="0">
                <a:solidFill>
                  <a:srgbClr val="111111"/>
                </a:solidFill>
                <a:latin typeface="+mj-lt"/>
                <a:cs typeface="+mj-cs"/>
              </a:rPr>
              <a:t>Every tree deserves a patient keeper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  <a:cs typeface="+mj-cs"/>
              </a:rPr>
              <a:t>The waitlist grew faster than keepers could sign up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  <a:cs typeface="+mn-cs"/>
              </a:rPr>
              <a:t>12,400 trees are waiting for a keeper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  <a:cs typeface="+mn-cs"/>
              </a:rPr>
              <a:t>Source: BonsaiHub waitlist,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3048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spc="0">
                <a:solidFill>
                  <a:srgbClr val="111111"/>
                </a:solidFill>
                <a:latin typeface="+mj-lt"/>
                <a:cs typeface="+mj-cs"/>
              </a:rPr>
              <a:t>Most keepers stay for the whole season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 b="0" i="0" spc="0">
                <a:solidFill>
                  <a:srgbClr val="111111"/>
                </a:solidFill>
                <a:latin typeface="+mn-lt"/>
                <a:cs typeface="+mn-cs"/>
              </a:rPr>
              <a:t>71% of keepers are still active after 90 days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  <a:cs typeface="+mn-cs"/>
              </a:rPr>
              <a:t>Source: BonsaiHub product analytics, September 2026 (fictional)</a:t>
            </a:r>
          </a:p>
        </p:txBody>
      </p:sp>
      <p:sp>
        <p:nvSpPr>
          <p:cNvPr id="5" name="keyline"/>
          <p:cNvSpPr/>
          <p:nvPr/>
        </p:nvSpPr>
        <p:spPr>
          <a:xfrm>
            <a:off x="540000" y="2169000"/>
            <a:ext cx="11112000" cy="4320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lIns="0" tIns="0" rIns="0" bIns="41910" wrap="square" anchor="b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spc="0">
                <a:solidFill>
                  <a:srgbClr val="111111"/>
                </a:solidFill>
                <a:latin typeface="+mj-lt"/>
                <a:cs typeface="+mj-cs"/>
              </a:rPr>
              <a:t>Put a keeper on every waiting tree</a:t>
            </a:r>
          </a:p>
        </p:txBody>
      </p:sp>
      <p:sp>
        <p:nvSpPr>
          <p:cNvPr id="3" name="main"/>
          <p:cNvSpPr>
            <a:spLocks noGrp="1"/>
          </p:cNvSpPr>
          <p:nvPr>
            <p:ph type="body" idx="1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spc="0">
                <a:solidFill>
                  <a:srgbClr val="111111"/>
                </a:solidFill>
                <a:latin typeface="+mn-lt"/>
                <a:cs typeface="+mn-cs"/>
              </a:rPr>
              <a:t>Join the waitlist as a keeper this season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3"/>
          </p:nvPr>
        </p:nvSpPr>
        <p:spPr/>
        <p:txBody>
          <a:bodyPr lIns="0" tIns="0" rIns="0" bIns="0" wrap="square" anchor="t">
            <a:noAutofit/>
          </a:bodyPr>
          <a:lstStyle/>
          <a:p>
            <a:pPr marL="0" algn="l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spc="0">
                <a:solidFill>
                  <a:srgbClr val="5C5C5A"/>
                </a:solidFill>
                <a:latin typeface="+mn-lt"/>
                <a:cs typeface="+mn-cs"/>
              </a:rPr>
              <a:t>Note: BonsaiHub is a parody. Its trees and every number in this deck are fictional.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keyline swiss">
  <a:themeElements>
    <a:clrScheme name="swiss">
      <a:dk1>
        <a:srgbClr val="111111"/>
      </a:dk1>
      <a:lt1>
        <a:srgbClr val="F2F2F0"/>
      </a:lt1>
      <a:dk2>
        <a:srgbClr val="5C5C5A"/>
      </a:dk2>
      <a:lt2>
        <a:srgbClr val="B8B8B4"/>
      </a:lt2>
      <a:accent1>
        <a:srgbClr val="CC3322"/>
      </a:accent1>
      <a:accent2>
        <a:srgbClr val="E8422E"/>
      </a:accent2>
      <a:accent3>
        <a:srgbClr val="5C5C5A"/>
      </a:accent3>
      <a:accent4>
        <a:srgbClr val="B8B8B4"/>
      </a:accent4>
      <a:accent5>
        <a:srgbClr val="111111"/>
      </a:accent5>
      <a:accent6>
        <a:srgbClr val="5C5C5A"/>
      </a:accent6>
      <a:hlink>
        <a:srgbClr val="111111"/>
      </a:hlink>
      <a:folHlink>
        <a:srgbClr val="5C5C5A"/>
      </a:folHlink>
    </a:clrScheme>
    <a:fontScheme name="swiss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swis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keyline</Application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keyline swiss neutral (presented)</dc:title>
  <dc:creator>Tyler</dc:creator>
  <cp:lastModifiedBy>Tyler</cp:lastModifiedBy>
  <cp:revision>1</cp:revision>
  <dcterms:created xsi:type="dcterms:W3CDTF">2026-09-27T00:00:00Z</dcterms:created>
  <dcterms:modified xsi:type="dcterms:W3CDTF">2026-09-27T00:00:00Z</dcterms:modified>
</cp:coreProperties>
</file>