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5C5C5A"/>
            </a:solidFill>
            <a:ln>
              <a:noFill/>
            </a:ln>
          </c:spPr>
          <c:dPt>
            <c:idx val="3"/>
            <c:spPr>
              <a:solidFill>
                <a:srgbClr val="CC3322"/>
              </a:solidFill>
            </c:spPr>
          </c:dPt>
          <c:cat>
            <c:strRef>
              <c:f>Sheet1!$A$2:$A$7</c:f>
              <c:strCache>
                <c:ptCount val="6"/>
                <c:pt idx="0">
                  <c:v>label</c:v>
                </c:pt>
                <c:pt idx="1">
                  <c:v>body</c:v>
                </c:pt>
                <c:pt idx="2">
                  <c:v>lede</c:v>
                </c:pt>
                <c:pt idx="3">
                  <c:v>headline</c:v>
                </c:pt>
                <c:pt idx="4">
                  <c:v>statement</c:v>
                </c:pt>
                <c:pt idx="5">
                  <c:v>cover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14.0</c:v>
                </c:pt>
                <c:pt idx="1">
                  <c:v>24.0</c:v>
                </c:pt>
                <c:pt idx="2">
                  <c:v>28.0</c:v>
                </c:pt>
                <c:pt idx="3">
                  <c:v>48.0</c:v>
                </c:pt>
                <c:pt idx="4">
                  <c:v>60.0</c:v>
                </c:pt>
                <c:pt idx="5">
                  <c:v>66.0</c:v>
                </c:pt>
              </c:numCache>
            </c:numRef>
          </c:val>
        </c:ser>
        <c:dLbls>
          <c:numFmt formatCode="#,##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500000001"/>
        <c:axId val="500000002"/>
      </c:barChart>
      <c:catAx>
        <c:axId val="500000001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B8B4"/>
            </a:solidFill>
          </a:ln>
        </c:spPr>
        <c:crossAx val="500000002"/>
        <c:crosses val="autoZero"/>
        <c:auto val="1"/>
        <c:lblAlgn val="ctr"/>
        <c:lblOffset val="100"/>
        <c:noMultiLvlLbl val="0"/>
      </c:catAx>
      <c:valAx>
        <c:axId val="500000002"/>
        <c:scaling/>
        <c:delete/>
        <c:axPos val="l"/>
        <c:majorGridlines>
          <c:spPr>
            <a:ln w="6350">
              <a:solidFill>
                <a:srgbClr val="B8B8B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500000001"/>
        <c:crosses val="autoZero"/>
      </c:valAx>
    </c:plotArea>
    <c:dispBlanksAs val="gap"/>
  </c:chart>
  <c:txPr>
    <a:bodyPr/>
    <a:lstStyle/>
    <a:p>
      <a:pPr>
        <a:defRPr sz="1400">
          <a:solidFill>
            <a:srgbClr val="5C5C5A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pen takes names, never sizes or colours.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columns, fixed margins, and rows that set the rhythm.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twice the body in presented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set by hand; every text picks a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Margins, gutters and rows are fixed by the 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slowly, then pause.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from a brief, pick a voice, and let the pen set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Swiss: a pack for decks that argue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A grid, one family per voice, one signal colour, and a single recurring rule.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spc="0">
                <a:solidFill>
                  <a:srgbClr val="111111"/>
                </a:solidFill>
                <a:latin typeface="+mj-lt"/>
                <a:cs typeface="+mj-cs"/>
              </a:rPr>
              <a:t>Every value in the deck comes from the pack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The pen takes names, never sizes or colours, so a slide cannot drift off the system.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F2F2F0"/>
                </a:solidFill>
                <a:latin typeface="+mj-lt"/>
                <a:cs typeface="+mj-cs"/>
              </a:rPr>
              <a:t>How the pack sets a slide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E8422E"/>
                </a:solidFill>
                <a:latin typeface="+mn-lt"/>
                <a:cs typeface="+mn-cs"/>
              </a:rPr>
              <a:t>Part 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Regions snap to one grid on every slide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Every region spans whole columns, so text and figures line up from slide to slide.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pack.toml, [grid]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ain-numeral"/>
          <p:cNvSpPr txBox="1"/>
          <p:nvPr/>
        </p:nvSpPr>
        <p:spPr>
          <a:xfrm>
            <a:off x="540000" y="2349000"/>
            <a:ext cx="7348000" cy="1829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0" b="1" i="0" spc="0">
                <a:solidFill>
                  <a:srgbClr val="111111"/>
                </a:solidFill>
                <a:latin typeface="+mj-lt"/>
                <a:cs typeface="+mj-cs"/>
              </a:rPr>
              <a:t>12</a:t>
            </a:r>
          </a:p>
        </p:txBody>
      </p:sp>
      <p:sp>
        <p:nvSpPr>
          <p:cNvPr id="8" name="main-label"/>
          <p:cNvSpPr txBox="1"/>
          <p:nvPr/>
        </p:nvSpPr>
        <p:spPr>
          <a:xfrm>
            <a:off x="540000" y="4178160"/>
            <a:ext cx="7348000" cy="15008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  <a:cs typeface="+mn-cs"/>
              </a:rPr>
              <a:t>columns in the grid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Sizes step up so titles always dominate the body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pack.toml, [styles.presented]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chart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Each style has one job in the deck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Source: pack.toml, [styles]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main-table"/>
          <p:cNvGraphicFramePr>
            <a:graphicFrameLocks noGrp="1"/>
          </p:cNvGraphicFramePr>
          <p:nvPr/>
        </p:nvGraphicFramePr>
        <p:xfrm>
          <a:off x="540000" y="2349000"/>
          <a:ext cx="11112000" cy="3330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43340"/>
                <a:gridCol w="8568660"/>
              </a:tblGrid>
              <a:tr h="306960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  <a:cs typeface="+mn-cs"/>
                        </a:rPr>
                        <a:t>Style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i="0" spc="112" cap="all">
                          <a:solidFill>
                            <a:srgbClr val="5C5C5A"/>
                          </a:solidFill>
                          <a:latin typeface="+mn-lt"/>
                          <a:cs typeface="+mn-cs"/>
                        </a:rPr>
                        <a:t>Used for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Headline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Evidence and section titles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Lede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The line that follows a title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Body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Paragraphs and bullets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Label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Figure labels and table headers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  <a:tr h="495936"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Source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2400" b="0" i="0" spc="0">
                          <a:solidFill>
                            <a:srgbClr val="111111"/>
                          </a:solidFill>
                          <a:latin typeface="+mn-lt"/>
                          <a:cs typeface="+mn-cs"/>
                        </a:rPr>
                        <a:t>Source and note lines</a:t>
                      </a:r>
                    </a:p>
                  </a:txBody>
                  <a:tcPr marL="0" marR="91440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B8B8B4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3048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spc="0">
                <a:solidFill>
                  <a:srgbClr val="111111"/>
                </a:solidFill>
                <a:latin typeface="+mj-lt"/>
                <a:cs typeface="+mj-cs"/>
              </a:rPr>
              <a:t>The grid, drawn to scale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/>
          </p:nvPr>
        </p:nvSpPr>
        <p:spPr/>
        <p:txBody>
          <a:bodyPr lIns="0" tIns="0" rIns="0" bIns="0" wrap="square" anchor="t">
            <a:noAutofit/>
          </a:bodyPr>
          <a:lstStyle/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Margins keep a clear edge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Gutters part the columns</a:t>
            </a:r>
          </a:p>
          <a:p>
            <a:pPr marL="342900" algn="l" indent="-3429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har char="–"/>
            </a:pPr>
            <a:r>
              <a:rPr lang="en-US" sz="2400" b="0" i="0" spc="0">
                <a:solidFill>
                  <a:srgbClr val="111111"/>
                </a:solidFill>
                <a:latin typeface="+mn-lt"/>
                <a:cs typeface="+mn-cs"/>
              </a:rPr>
              <a:t>Rows set the rhythm</a:t>
            </a:r>
          </a:p>
        </p:txBody>
      </p:sp>
      <p:sp>
        <p:nvSpPr>
          <p:cNvPr id="6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main-image" descr="The Swiss grid: twelve columns inside fixed margi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2349000"/>
            <a:ext cx="6428443" cy="333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spc="0">
                <a:solidFill>
                  <a:srgbClr val="111111"/>
                </a:solidFill>
                <a:latin typeface="+mj-lt"/>
                <a:cs typeface="+mj-cs"/>
              </a:rPr>
              <a:t>Statement slides are allowed to be mostly empty, and that emptiness is the point.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spc="112" cap="all">
                <a:solidFill>
                  <a:srgbClr val="5C5C5A"/>
                </a:solidFill>
                <a:latin typeface="+mn-lt"/>
                <a:cs typeface="+mn-cs"/>
              </a:rPr>
              <a:t>The Swiss pack README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 lIns="0" tIns="0" rIns="0" bIns="41910" wrap="square" anchor="b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1" i="0" spc="0">
                <a:solidFill>
                  <a:srgbClr val="111111"/>
                </a:solidFill>
                <a:latin typeface="+mj-lt"/>
                <a:cs typeface="+mj-cs"/>
              </a:rPr>
              <a:t>Build the next deck from the same tokens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 spc="0">
                <a:solidFill>
                  <a:srgbClr val="111111"/>
                </a:solidFill>
                <a:latin typeface="+mn-lt"/>
                <a:cs typeface="+mn-cs"/>
              </a:rPr>
              <a:t>Start from a brief, pick a voice, and let the pen set the rest.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/>
          </p:nvPr>
        </p:nvSpPr>
        <p:spPr/>
        <p:txBody>
          <a:bodyPr lIns="0" tIns="0" rIns="0" bIns="0" wrap="square" anchor="t">
            <a:noAutofit/>
          </a:bodyPr>
          <a:lstStyle/>
          <a:p>
            <a:pPr marL="0" algn="l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spc="0">
                <a:solidFill>
                  <a:srgbClr val="5C5C5A"/>
                </a:solidFill>
                <a:latin typeface="+mn-lt"/>
                <a:cs typeface="+mn-cs"/>
              </a:rPr>
              <a:t>Note: This specimen shows the pack itself, not a product.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(presented)</dc:title>
  <dc:creator>Tyler</dc:creator>
  <cp:lastModifiedBy>Tyler</cp:lastModifiedBy>
  <cp:revision>1</cp:revision>
  <dcterms:created xsi:type="dcterms:W3CDTF">2026-09-27T00:00:00Z</dcterms:created>
  <dcterms:modified xsi:type="dcterms:W3CDTF">2026-09-27T00:00:00Z</dcterms:modified>
</cp:coreProperties>
</file>