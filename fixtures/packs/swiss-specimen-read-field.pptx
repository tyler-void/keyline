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6251D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6251D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6251D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6251D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6251D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6251D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6251D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6251D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400"/>
      </a:spcAft>
      <a:buNone/>
      <a:defRPr sz="1300" b="0" i="0" spc="0">
        <a:solidFill>
          <a:srgbClr val="16251D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A5A51"/>
            </a:solidFill>
            <a:ln>
              <a:noFill/>
            </a:ln>
          </c:spPr>
          <c:dPt>
            <c:idx val="3"/>
            <c:spPr>
              <a:solidFill>
                <a:srgbClr val="1D4FB8"/>
              </a:solidFill>
            </c:spPr>
          </c:dPt>
          <c:cat>
            <c:strRef>
              <c:f>Sheet1!$A$2:$A$7</c:f>
              <c:strCache>
                <c:ptCount val="6"/>
                <c:pt idx="0">
                  <c:v>label</c:v>
                </c:pt>
                <c:pt idx="1">
                  <c:v>body</c:v>
                </c:pt>
                <c:pt idx="2">
                  <c:v>lede</c:v>
                </c:pt>
                <c:pt idx="3">
                  <c:v>headline</c:v>
                </c:pt>
                <c:pt idx="4">
                  <c:v>statement</c:v>
                </c:pt>
                <c:pt idx="5">
                  <c:v>cover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10.0</c:v>
                </c:pt>
                <c:pt idx="1">
                  <c:v>13.0</c:v>
                </c:pt>
                <c:pt idx="2">
                  <c:v>16.0</c:v>
                </c:pt>
                <c:pt idx="3">
                  <c:v>28.0</c:v>
                </c:pt>
                <c:pt idx="4">
                  <c:v>36.0</c:v>
                </c:pt>
                <c:pt idx="5">
                  <c:v>40.0</c:v>
                </c:pt>
              </c:numCache>
            </c:numRef>
          </c:val>
        </c:ser>
        <c:dLbls>
          <c:numFmt formatCode="#,##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500000001"/>
        <c:axId val="500000002"/>
      </c:barChart>
      <c:catAx>
        <c:axId val="50000000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6C2BA"/>
            </a:solidFill>
          </a:ln>
        </c:spPr>
        <c:crossAx val="500000002"/>
        <c:crosses val="autoZero"/>
        <c:auto val="1"/>
        <c:lblAlgn val="ctr"/>
        <c:lblOffset val="100"/>
        <c:noMultiLvlLbl val="0"/>
      </c:catAx>
      <c:valAx>
        <c:axId val="500000002"/>
        <c:scaling/>
        <c:delete/>
        <c:axPos val="l"/>
        <c:majorGridlines>
          <c:spPr>
            <a:ln w="6350">
              <a:solidFill>
                <a:srgbClr val="B6C2B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500000001"/>
        <c:crosses val="autoZero"/>
      </c:valAx>
    </c:plotArea>
    <c:dispBlanksAs val="gap"/>
  </c:chart>
  <c:txPr>
    <a:bodyPr/>
    <a:lstStyle/>
    <a:p>
      <a:pPr>
        <a:defRPr sz="1000">
          <a:solidFill>
            <a:srgbClr val="4A5A51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pen takes names, never sizes or colours.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columns, fixed margins, and rows that set the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read mode the steps are smaller, for a page read at arm's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is set by hand; every text picks a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Margins, gutters and rows are fixed by the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it slowly, then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a brief, pick a voice, and let the pen set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625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EEF2EE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i="0" cap="all" spc="80">
                <a:solidFill>
                  <a:srgbClr val="8DB2FF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i="0" cap="all" spc="80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spc="0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  <a:defRPr sz="13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6251D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6251D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6251D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6251D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6251D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6251D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6251D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6251D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2800" b="1" i="0" spc="0">
          <a:solidFill>
            <a:srgbClr val="16251D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400"/>
        </a:spcAft>
        <a:buNone/>
        <a:defRPr sz="1300" b="0" i="0" spc="0">
          <a:solidFill>
            <a:srgbClr val="16251D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spc="0">
                <a:solidFill>
                  <a:srgbClr val="16251D"/>
                </a:solidFill>
                <a:latin typeface="+mj-lt"/>
              </a:rPr>
              <a:t>Swiss: a pack for decks that argue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spc="0">
                <a:solidFill>
                  <a:srgbClr val="16251D"/>
                </a:solidFill>
                <a:latin typeface="+mn-lt"/>
              </a:rPr>
              <a:t>A grid, one family per voice, one signal colour, and a single recurring rule.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spc="0">
                <a:solidFill>
                  <a:srgbClr val="16251D"/>
                </a:solidFill>
                <a:latin typeface="+mj-lt"/>
              </a:rPr>
              <a:t>Every value in the deck comes from the pack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spc="0">
                <a:solidFill>
                  <a:srgbClr val="16251D"/>
                </a:solidFill>
                <a:latin typeface="+mn-lt"/>
              </a:rPr>
              <a:t>The pen takes names, never sizes or colours, so a slide cannot drift off the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spc="0">
                <a:solidFill>
                  <a:srgbClr val="EEF2EE"/>
                </a:solidFill>
                <a:latin typeface="+mj-lt"/>
              </a:rPr>
              <a:t>How the pack sets a slide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80" cap="all">
                <a:solidFill>
                  <a:srgbClr val="8DB2FF"/>
                </a:solidFill>
                <a:latin typeface="+mn-lt"/>
              </a:rPr>
              <a:t>Part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spc="0">
                <a:solidFill>
                  <a:srgbClr val="16251D"/>
                </a:solidFill>
                <a:latin typeface="+mj-lt"/>
              </a:rPr>
              <a:t>Regions snap to one grid on every slide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300" b="0" i="0" spc="0">
                <a:solidFill>
                  <a:srgbClr val="16251D"/>
                </a:solidFill>
                <a:latin typeface="+mn-lt"/>
              </a:rPr>
              <a:t>Every region spans whole columns, so text and figures line up from slide to slide.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spc="0">
                <a:solidFill>
                  <a:srgbClr val="4A5A51"/>
                </a:solidFill>
                <a:latin typeface="+mn-lt"/>
              </a:rPr>
              <a:t>Source: pack.toml, [grid]</a:t>
            </a:r>
          </a:p>
        </p:txBody>
      </p:sp>
      <p:sp>
        <p:nvSpPr>
          <p:cNvPr id="6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6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ain-numeral"/>
          <p:cNvSpPr txBox="1"/>
          <p:nvPr/>
        </p:nvSpPr>
        <p:spPr>
          <a:xfrm>
            <a:off x="540000" y="2349000"/>
            <a:ext cx="7348000" cy="914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16251D"/>
                </a:solidFill>
                <a:latin typeface="+mj-lt"/>
              </a:rPr>
              <a:t>12</a:t>
            </a:r>
          </a:p>
        </p:txBody>
      </p:sp>
      <p:sp>
        <p:nvSpPr>
          <p:cNvPr id="8" name="main-label"/>
          <p:cNvSpPr txBox="1"/>
          <p:nvPr/>
        </p:nvSpPr>
        <p:spPr>
          <a:xfrm>
            <a:off x="540000" y="3263760"/>
            <a:ext cx="7348000" cy="2415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80" cap="all">
                <a:solidFill>
                  <a:srgbClr val="4A5A51"/>
                </a:solidFill>
                <a:latin typeface="+mn-lt"/>
              </a:rPr>
              <a:t>columns in the grid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spc="0">
                <a:solidFill>
                  <a:srgbClr val="16251D"/>
                </a:solidFill>
                <a:latin typeface="+mj-lt"/>
              </a:rPr>
              <a:t>Sizes step up so titles always dominate the body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spc="0">
                <a:solidFill>
                  <a:srgbClr val="4A5A51"/>
                </a:solidFill>
                <a:latin typeface="+mn-lt"/>
              </a:rPr>
              <a:t>Source: pack.toml, [styles.read]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6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main-chart"/>
          <p:cNvGraphicFramePr>
            <a:graphicFrameLocks noGrp="1"/>
          </p:cNvGraphicFramePr>
          <p:nvPr/>
        </p:nvGraphicFramePr>
        <p:xfrm>
          <a:off x="540000" y="2349000"/>
          <a:ext cx="11112000" cy="333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spc="0">
                <a:solidFill>
                  <a:srgbClr val="16251D"/>
                </a:solidFill>
                <a:latin typeface="+mj-lt"/>
              </a:rPr>
              <a:t>Each style has one job in the deck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spc="0">
                <a:solidFill>
                  <a:srgbClr val="4A5A51"/>
                </a:solidFill>
                <a:latin typeface="+mn-lt"/>
              </a:rPr>
              <a:t>Source: pack.toml, [styles]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6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main-table"/>
          <p:cNvGraphicFramePr>
            <a:graphicFrameLocks noGrp="1"/>
          </p:cNvGraphicFramePr>
          <p:nvPr/>
        </p:nvGraphicFramePr>
        <p:xfrm>
          <a:off x="540000" y="2349000"/>
          <a:ext cx="11112000" cy="333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03450"/>
                <a:gridCol w="8408550"/>
              </a:tblGrid>
              <a:tr h="253391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spc="80" cap="all">
                          <a:solidFill>
                            <a:srgbClr val="4A5A51"/>
                          </a:solidFill>
                          <a:latin typeface="+mn-lt"/>
                        </a:rPr>
                        <a:t>Style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spc="80" cap="all">
                          <a:solidFill>
                            <a:srgbClr val="4A5A51"/>
                          </a:solidFill>
                          <a:latin typeface="+mn-lt"/>
                        </a:rPr>
                        <a:t>Used for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</a:tr>
              <a:tr h="322720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6251D"/>
                          </a:solidFill>
                          <a:latin typeface="+mn-lt"/>
                        </a:rPr>
                        <a:t>Headline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6251D"/>
                          </a:solidFill>
                          <a:latin typeface="+mn-lt"/>
                        </a:rPr>
                        <a:t>Evidence and section titles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</a:tr>
              <a:tr h="322720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6251D"/>
                          </a:solidFill>
                          <a:latin typeface="+mn-lt"/>
                        </a:rPr>
                        <a:t>Lede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6251D"/>
                          </a:solidFill>
                          <a:latin typeface="+mn-lt"/>
                        </a:rPr>
                        <a:t>The line that follows a title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</a:tr>
              <a:tr h="322720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6251D"/>
                          </a:solidFill>
                          <a:latin typeface="+mn-lt"/>
                        </a:rPr>
                        <a:t>Body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6251D"/>
                          </a:solidFill>
                          <a:latin typeface="+mn-lt"/>
                        </a:rPr>
                        <a:t>Paragraphs and bullets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</a:tr>
              <a:tr h="322720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6251D"/>
                          </a:solidFill>
                          <a:latin typeface="+mn-lt"/>
                        </a:rPr>
                        <a:t>Label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6251D"/>
                          </a:solidFill>
                          <a:latin typeface="+mn-lt"/>
                        </a:rPr>
                        <a:t>Figure labels and table headers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</a:tr>
              <a:tr h="322720"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6251D"/>
                          </a:solidFill>
                          <a:latin typeface="+mn-lt"/>
                        </a:rPr>
                        <a:t>Source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300" b="0" i="0" spc="0">
                          <a:solidFill>
                            <a:srgbClr val="16251D"/>
                          </a:solidFill>
                          <a:latin typeface="+mn-lt"/>
                        </a:rPr>
                        <a:t>Source and note lines</a:t>
                      </a:r>
                    </a:p>
                  </a:txBody>
                  <a:tcPr marL="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6C2BA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spc="0">
                <a:solidFill>
                  <a:srgbClr val="16251D"/>
                </a:solidFill>
                <a:latin typeface="+mj-lt"/>
              </a:rPr>
              <a:t>The grid, drawn to scale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/>
          </p:nvPr>
        </p:nvSpPr>
        <p:spPr/>
        <p:txBody>
          <a:bodyPr lIns="0" tIns="0" rIns="0" bIns="0" wrap="square" anchor="t">
            <a:noAutofit/>
          </a:bodyPr>
          <a:lstStyle/>
          <a:p>
            <a:pPr marL="228600" algn="l" indent="-22860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har char="–"/>
            </a:pPr>
            <a:r>
              <a:rPr lang="en-US" sz="1300" b="0" i="0" spc="0">
                <a:solidFill>
                  <a:srgbClr val="16251D"/>
                </a:solidFill>
                <a:latin typeface="+mn-lt"/>
              </a:rPr>
              <a:t>Margins keep a clear edge</a:t>
            </a:r>
          </a:p>
          <a:p>
            <a:pPr marL="228600" algn="l" indent="-22860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har char="–"/>
            </a:pPr>
            <a:r>
              <a:rPr lang="en-US" sz="1300" b="0" i="0" spc="0">
                <a:solidFill>
                  <a:srgbClr val="16251D"/>
                </a:solidFill>
                <a:latin typeface="+mn-lt"/>
              </a:rPr>
              <a:t>Gutters part the columns</a:t>
            </a:r>
          </a:p>
          <a:p>
            <a:pPr marL="228600" algn="l" indent="-22860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har char="–"/>
            </a:pPr>
            <a:r>
              <a:rPr lang="en-US" sz="1300" b="0" i="0" spc="0">
                <a:solidFill>
                  <a:srgbClr val="16251D"/>
                </a:solidFill>
                <a:latin typeface="+mn-lt"/>
              </a:rPr>
              <a:t>Rows set the rhythm</a:t>
            </a:r>
          </a:p>
        </p:txBody>
      </p:sp>
      <p:sp>
        <p:nvSpPr>
          <p:cNvPr id="6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62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main-image" descr="The Swiss grid: twelve columns inside fixed marg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349000"/>
            <a:ext cx="6428443" cy="333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spc="0">
                <a:solidFill>
                  <a:srgbClr val="16251D"/>
                </a:solidFill>
                <a:latin typeface="+mj-lt"/>
              </a:rPr>
              <a:t>Statement slides are allowed to be mostly empty, and that emptiness is the point.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spc="80" cap="all">
                <a:solidFill>
                  <a:srgbClr val="4A5A51"/>
                </a:solidFill>
                <a:latin typeface="+mn-lt"/>
              </a:rPr>
              <a:t>The Swiss pack README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spc="0">
                <a:solidFill>
                  <a:srgbClr val="16251D"/>
                </a:solidFill>
                <a:latin typeface="+mj-lt"/>
              </a:rPr>
              <a:t>Build the next deck from the same tokens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spc="0">
                <a:solidFill>
                  <a:srgbClr val="16251D"/>
                </a:solidFill>
                <a:latin typeface="+mn-lt"/>
              </a:rPr>
              <a:t>Start from a brief, pick a voice, and let the pen set the rest.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spc="0">
                <a:solidFill>
                  <a:srgbClr val="4A5A51"/>
                </a:solidFill>
                <a:latin typeface="+mn-lt"/>
              </a:rPr>
              <a:t>Note: This specimen shows the pack itself, not a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6251D"/>
      </a:dk1>
      <a:lt1>
        <a:srgbClr val="EEF2EE"/>
      </a:lt1>
      <a:dk2>
        <a:srgbClr val="4A5A51"/>
      </a:dk2>
      <a:lt2>
        <a:srgbClr val="B6C2BA"/>
      </a:lt2>
      <a:accent1>
        <a:srgbClr val="1D4FB8"/>
      </a:accent1>
      <a:accent2>
        <a:srgbClr val="8DB2FF"/>
      </a:accent2>
      <a:accent3>
        <a:srgbClr val="4A5A51"/>
      </a:accent3>
      <a:accent4>
        <a:srgbClr val="B6C2BA"/>
      </a:accent4>
      <a:accent5>
        <a:srgbClr val="16251D"/>
      </a:accent5>
      <a:accent6>
        <a:srgbClr val="4A5A51"/>
      </a:accent6>
      <a:hlink>
        <a:srgbClr val="16251D"/>
      </a:hlink>
      <a:folHlink>
        <a:srgbClr val="4A5A51"/>
      </a:folHlink>
    </a:clrScheme>
    <a:fontScheme name="swiss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field (read)</dc:title>
  <dc:creator>Tyler</dc:creator>
  <cp:lastModifiedBy>Tyler</cp:lastModifiedBy>
  <cp:revision>1</cp:revision>
  <dcterms:created xsi:type="dcterms:W3CDTF">2026-09-27T00:00:00Z</dcterms:created>
  <dcterms:modified xsi:type="dcterms:W3CDTF">2026-09-27T00:00:00Z</dcterms:modified>
</cp:coreProperties>
</file>