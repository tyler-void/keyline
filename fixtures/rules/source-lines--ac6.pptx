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Where the numbers come from</a:t>
            </a:r>
          </a:p>
        </p:txBody>
      </p:sp>
      <p:sp>
        <p:nvSpPr>
          <p:cNvPr id="3" name="source-12pt"/>
          <p:cNvSpPr txBox="1"/>
          <p:nvPr/>
        </p:nvSpPr>
        <p:spPr>
          <a:xfrm>
            <a:off x="720000" y="5580000"/>
            <a:ext cx="1075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1"/>
                </a:solidFill>
                <a:latin typeface="Arial"/>
              </a:rPr>
              <a:t>Source: BonsaiHub waitlist, September 2026 (fictional)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Where the numbers come from</a:t>
            </a:r>
          </a:p>
        </p:txBody>
      </p:sp>
      <p:sp>
        <p:nvSpPr>
          <p:cNvPr id="3" name="source-10pt"/>
          <p:cNvSpPr txBox="1"/>
          <p:nvPr/>
        </p:nvSpPr>
        <p:spPr>
          <a:xfrm>
            <a:off x="720000" y="5580000"/>
            <a:ext cx="1075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Arial"/>
              </a:rPr>
              <a:t>Source: BonsaiHub waitlist, September 2026 (fictional)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Where the numbers come from</a:t>
            </a:r>
          </a:p>
        </p:txBody>
      </p:sp>
      <p:sp>
        <p:nvSpPr>
          <p:cNvPr id="3" name="source-code"/>
          <p:cNvSpPr txBox="1"/>
          <p:nvPr/>
        </p:nvSpPr>
        <p:spPr>
          <a:xfrm>
            <a:off x="720000" y="5580000"/>
            <a:ext cx="1075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1"/>
                </a:solidFill>
                <a:latin typeface="Arial"/>
              </a:rPr>
              <a:t>Source code in this repository is checked by two linters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Where the numbers come from</a:t>
            </a:r>
          </a:p>
        </p:txBody>
      </p:sp>
      <p:sp>
        <p:nvSpPr>
          <p:cNvPr id="3" name="note-12pt"/>
          <p:cNvSpPr txBox="1"/>
          <p:nvPr/>
        </p:nvSpPr>
        <p:spPr>
          <a:xfrm>
            <a:off x="720000" y="5580000"/>
            <a:ext cx="1075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1"/>
                </a:solidFill>
                <a:latin typeface="Arial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A modest title</a:t>
            </a:r>
          </a:p>
        </p:txBody>
      </p:sp>
      <p:sp>
        <p:nvSpPr>
          <p:cNvPr id="3" name="source-under-small-title"/>
          <p:cNvSpPr txBox="1"/>
          <p:nvPr/>
        </p:nvSpPr>
        <p:spPr>
          <a:xfrm>
            <a:off x="720000" y="5580000"/>
            <a:ext cx="1075212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11111"/>
                </a:solidFill>
                <a:latin typeface="Arial"/>
              </a:rPr>
              <a:t>Source: BonsaiHub waitlist, September 2026 (fictional)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