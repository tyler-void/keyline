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lvl1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ECECEC"/>
        </a:solidFill>
        <a:latin typeface="+mn-lt"/>
      </a:defRPr>
    </a:lvl1pPr>
    <a:lvl2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ECECEC"/>
        </a:solidFill>
        <a:latin typeface="+mn-lt"/>
      </a:defRPr>
    </a:lvl2pPr>
    <a:lvl3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ECECEC"/>
        </a:solidFill>
        <a:latin typeface="+mn-lt"/>
      </a:defRPr>
    </a:lvl3pPr>
    <a:lvl4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ECECEC"/>
        </a:solidFill>
        <a:latin typeface="+mn-lt"/>
      </a:defRPr>
    </a:lvl4pPr>
    <a:lvl5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ECECEC"/>
        </a:solidFill>
        <a:latin typeface="+mn-lt"/>
      </a:defRPr>
    </a:lvl5pPr>
    <a:lvl6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ECECEC"/>
        </a:solidFill>
        <a:latin typeface="+mn-lt"/>
      </a:defRPr>
    </a:lvl6pPr>
    <a:lvl7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ECECEC"/>
        </a:solidFill>
        <a:latin typeface="+mn-lt"/>
      </a:defRPr>
    </a:lvl7pPr>
    <a:lvl8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ECECEC"/>
        </a:solidFill>
        <a:latin typeface="+mn-lt"/>
      </a:defRPr>
    </a:lvl8pPr>
    <a:lvl9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ECECEC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90000" cy="90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80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ECECEC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149000"/>
            <a:ext cx="9230000" cy="14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ECECEC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A3A7AC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ection"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2529000"/>
            <a:ext cx="9230000" cy="162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6181B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329000"/>
            <a:ext cx="9230000" cy="3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8A5A00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729000"/>
            <a:ext cx="9230000" cy="279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 i="0" spc="0">
                <a:solidFill>
                  <a:srgbClr val="ECECEC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ECECEC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A3A7AC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ECECEC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ECECEC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A3A7AC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: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ECECEC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7348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ECECEC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Side"/>
          <p:cNvSpPr>
            <a:spLocks noGrp="1"/>
          </p:cNvSpPr>
          <p:nvPr>
            <p:ph type="body" idx="2" hasCustomPrompt="1"/>
          </p:nvPr>
        </p:nvSpPr>
        <p:spPr>
          <a:xfrm>
            <a:off x="8068000" y="2349000"/>
            <a:ext cx="3584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ECECEC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5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A3A7AC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089000"/>
            <a:ext cx="9230000" cy="360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>
                <a:solidFill>
                  <a:srgbClr val="ECECEC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869000"/>
            <a:ext cx="9230000" cy="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A3A7AC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26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ECECEC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ECECEC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A3A7AC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ECECEC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ECECEC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ECECEC"/>
          </a:solidFill>
          <a:latin typeface="+mj-lt"/>
        </a:defRPr>
      </a:lvl1pPr>
      <a:lvl2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ECECEC"/>
          </a:solidFill>
          <a:latin typeface="+mj-lt"/>
        </a:defRPr>
      </a:lvl2pPr>
      <a:lvl3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ECECEC"/>
          </a:solidFill>
          <a:latin typeface="+mj-lt"/>
        </a:defRPr>
      </a:lvl3pPr>
      <a:lvl4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ECECEC"/>
          </a:solidFill>
          <a:latin typeface="+mj-lt"/>
        </a:defRPr>
      </a:lvl4pPr>
      <a:lvl5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ECECEC"/>
          </a:solidFill>
          <a:latin typeface="+mj-lt"/>
        </a:defRPr>
      </a:lvl5pPr>
      <a:lvl6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ECECEC"/>
          </a:solidFill>
          <a:latin typeface="+mj-lt"/>
        </a:defRPr>
      </a:lvl6pPr>
      <a:lvl7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ECECEC"/>
          </a:solidFill>
          <a:latin typeface="+mj-lt"/>
        </a:defRPr>
      </a:lvl7pPr>
      <a:lvl8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ECECEC"/>
          </a:solidFill>
          <a:latin typeface="+mj-lt"/>
        </a:defRPr>
      </a:lvl8pPr>
      <a:lvl9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ECECEC"/>
          </a:solidFill>
          <a:latin typeface="+mj-lt"/>
        </a:defRPr>
      </a:lvl9pPr>
    </p:titleStyle>
    <p:body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ECECEC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ECECEC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ECECEC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ECECEC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ECECEC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ECECEC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ECECEC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ECECEC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ECECEC"/>
          </a:solidFill>
          <a:latin typeface="+mn-lt"/>
        </a:defRPr>
      </a:lvl9pPr>
    </p:bodyStyle>
    <p:other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ECECEC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ECECEC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ECECEC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ECECEC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ECECEC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ECECEC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ECECEC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ECECEC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ECECEC"/>
          </a:solidFill>
          <a:latin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BonsaiHub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Trees meet keepers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Source: BonsaiHub waitlist, September 2026 (fictional)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waitlist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Part 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Keepers wait a season before a match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Most keepers visit</a:t>
            </a:r>
          </a:p>
        </p:txBody>
      </p:sp>
      <p:sp>
        <p:nvSpPr>
          <p:cNvPr id="5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airline"/>
          <p:cNvSpPr/>
          <p:nvPr/>
        </p:nvSpPr>
        <p:spPr>
          <a:xfrm>
            <a:off x="540000" y="6192000"/>
            <a:ext cx="11112120" cy="18000"/>
          </a:xfrm>
          <a:prstGeom prst="rect">
            <a:avLst/>
          </a:prstGeom>
          <a:solidFill>
            <a:srgbClr val="3D4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umeral"/>
          <p:cNvSpPr txBox="1"/>
          <p:nvPr/>
        </p:nvSpPr>
        <p:spPr>
          <a:xfrm>
            <a:off x="540000" y="2160000"/>
            <a:ext cx="72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0" b="1">
                <a:solidFill>
                  <a:srgbClr val="F0B429"/>
                </a:solidFill>
                <a:latin typeface="Arial"/>
              </a:rPr>
              <a:t>212 years</a:t>
            </a:r>
          </a:p>
        </p:txBody>
      </p:sp>
      <p:sp>
        <p:nvSpPr>
          <p:cNvPr id="8" name="label"/>
          <p:cNvSpPr txBox="1"/>
          <p:nvPr/>
        </p:nvSpPr>
        <p:spPr>
          <a:xfrm>
            <a:off x="540000" y="432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A3A7AC"/>
                </a:solidFill>
                <a:latin typeface="Arial"/>
              </a:rPr>
              <a:t>OLDEST TREE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Plant the first tree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season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yline swiss">
  <a:themeElements>
    <a:clrScheme name="swiss">
      <a:dk1>
        <a:srgbClr val="ECECEC"/>
      </a:dk1>
      <a:lt1>
        <a:srgbClr val="16181B"/>
      </a:lt1>
      <a:dk2>
        <a:srgbClr val="A3A7AC"/>
      </a:dk2>
      <a:lt2>
        <a:srgbClr val="3D4148"/>
      </a:lt2>
      <a:accent1>
        <a:srgbClr val="F0B429"/>
      </a:accent1>
      <a:accent2>
        <a:srgbClr val="8A5A00"/>
      </a:accent2>
      <a:accent3>
        <a:srgbClr val="A3A7AC"/>
      </a:accent3>
      <a:accent4>
        <a:srgbClr val="3D4148"/>
      </a:accent4>
      <a:accent5>
        <a:srgbClr val="ECECEC"/>
      </a:accent5>
      <a:accent6>
        <a:srgbClr val="A3A7AC"/>
      </a:accent6>
      <a:hlink>
        <a:srgbClr val="ECECEC"/>
      </a:hlink>
      <a:folHlink>
        <a:srgbClr val="A3A7AC"/>
      </a:folHlink>
    </a:clrScheme>
    <a:fontScheme name="swis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wis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keyline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dc:creator>Tyler</dc:creator>
  <cp:lastModifiedBy>Tyler</cp:lastModifiedBy>
  <cp:revision>1</cp:revision>
  <dcterms:created xsi:type="dcterms:W3CDTF">2026-09-24T00:00:00Z</dcterms:created>
  <dcterms:modified xsi:type="dcterms:W3CDTF">2026-09-24T00:00:00Z</dcterms:modified>
</cp:coreProperties>
</file>