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3290b6f258b4059" /><Relationship Type="http://schemas.openxmlformats.org/package/2006/relationships/metadata/core-properties" Target="/docProps/core.xml" Id="R538c5e4183d54ef3" /><Relationship Type="http://schemas.openxmlformats.org/officeDocument/2006/relationships/extended-properties" Target="/docProps/app.xml" Id="R0af9bcc3da0944d2" /><Relationship Type="http://schemas.openxmlformats.org/officeDocument/2006/relationships/custom-properties" Target="/docProps/custom.xml" Id="R6db79220816448a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94fca5a25bff4d2d"/>
  </p:notesMasterIdLst>
  <p:sldIdLst>
    <p:sldId id="256" r:id="R4b7936a0ddd3466c"/>
    <p:sldId id="257" r:id="Rdbea022349a4475c"/>
    <p:sldId id="258" r:id="R2dd47ebb8b3942d3"/>
    <p:sldId id="259" r:id="R28c2c72f86e0490a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b7936a0ddd3466c" /><Relationship Type="http://schemas.openxmlformats.org/officeDocument/2006/relationships/slide" Target="/ppt/slides/slide2.xml" Id="Rdbea022349a4475c" /><Relationship Type="http://schemas.openxmlformats.org/officeDocument/2006/relationships/notesMaster" Target="/ppt/notesMasters/notesMaster1.xml" Id="R94fca5a25bff4d2d" /><Relationship Type="http://schemas.openxmlformats.org/officeDocument/2006/relationships/slide" Target="/ppt/slides/slide3.xml" Id="R2dd47ebb8b3942d3" /><Relationship Type="http://schemas.openxmlformats.org/officeDocument/2006/relationships/slide" Target="/ppt/slides/slide4.xml" Id="R28c2c72f86e049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e8f31e6b803462a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d583df66ed74271" /><Relationship Type="http://schemas.openxmlformats.org/officeDocument/2006/relationships/slide" Target="/ppt/slides/slide2.xml" Id="Re00c87ed001a4d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2146c0071004f52" /><Relationship Type="http://schemas.openxmlformats.org/officeDocument/2006/relationships/slide" Target="/ppt/slides/slide3.xml" Id="R8f92cebdc91f43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720b2ea43c54bfa" /><Relationship Type="http://schemas.openxmlformats.org/officeDocument/2006/relationships/slide" Target="/ppt/slides/slide4.xml" Id="R966dbf73a66347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Screenshot QA is the only visual gate today, and it caps at three rounds.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gap is the product.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Deterministic findings return to the model before the deck is declared done.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16618d4ab741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93f3e0bac45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a339c477b348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cab422a5042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f4f8cc28c84e1b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7f2f8f02be0437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9ae0f6e1247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74ffa3a5e4053" /><Relationship Type="http://schemas.openxmlformats.org/officeDocument/2006/relationships/notesSlide" Target="/ppt/notesSlides/notesSlide1.xml" Id="Re3016d4da8c74e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67339b7d14fcb" /><Relationship Type="http://schemas.openxmlformats.org/officeDocument/2006/relationships/chart" Target="/ppt/slides/charts/chart1.xml" Id="R208d69c38a444c45" /><Relationship Type="http://schemas.openxmlformats.org/officeDocument/2006/relationships/notesSlide" Target="/ppt/notesSlides/notesSlide2.xml" Id="R3abbd2346dfd48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9ff89ac7447dc" /><Relationship Type="http://schemas.openxmlformats.org/officeDocument/2006/relationships/notesSlide" Target="/ppt/notesSlides/notesSlide3.xml" Id="Rb7b7f4d331c04950" /></Relationships>
</file>

<file path=ppt/slides/charts/chart1.xml><?xml version="1.0" encoding="utf-8"?>
<c:chartSpace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Rule count by enforcement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Prose rules</c:v>
          </c:tx>
          <c:spPr>
            <a:solidFill xmlns:a="http://schemas.openxmlformats.org/drawingml/2006/main">
              <a:srgbClr val="CADCFC"/>
            </a:solidFill>
          </c:spPr>
          <c:invertIfNegative val="0"/>
          <c:cat>
            <c:strLit>
              <c:ptCount val="3"/>
              <c:pt idx="0">
                <c:v>Anthropic pptx</c:v>
              </c:pt>
              <c:pt idx="1">
                <c:v>officecli-pptx</c:v>
              </c:pt>
              <c:pt idx="2">
                <c:v>impeccable</c:v>
              </c:pt>
            </c:strLit>
          </c:cat>
          <c:val>
            <c:numLit>
              <c:formatCode>General</c:formatCode>
              <c:ptCount val="3"/>
              <c:pt idx="0">
                <c:v>38</c:v>
              </c:pt>
              <c:pt idx="1">
                <c:v>41</c:v>
              </c:pt>
              <c:pt idx="2">
                <c:v>0</c:v>
              </c:pt>
            </c:numLit>
          </c:val>
        </c:ser>
        <c:ser>
          <c:idx val="1"/>
          <c:order val="1"/>
          <c:tx>
            <c:v>Machine-checked</c:v>
          </c:tx>
          <c:spPr>
            <a:solidFill xmlns:a="http://schemas.openxmlformats.org/drawingml/2006/main">
              <a:srgbClr val="1E2761"/>
            </a:solidFill>
          </c:spPr>
          <c:invertIfNegative val="0"/>
          <c:cat>
            <c:strLit>
              <c:ptCount val="3"/>
              <c:pt idx="0">
                <c:v>Anthropic pptx</c:v>
              </c:pt>
              <c:pt idx="1">
                <c:v>officecli-pptx</c:v>
              </c:pt>
              <c:pt idx="2">
                <c:v>impeccable</c:v>
              </c:pt>
            </c:strLit>
          </c:cat>
          <c:val>
            <c:numLit>
              <c:formatCode>General</c:formatCode>
              <c:ptCount val="3"/>
              <c:pt idx="0">
                <c:v>0</c:v>
              </c:pt>
              <c:pt idx="1">
                <c:v>0</c:v>
              </c:pt>
              <c:pt idx="2">
                <c:v>61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CoverRule"/>
          <p:cNvSpPr/>
          <p:nvPr/>
        </p:nvSpPr>
        <p:spPr>
          <a:xfrm xmlns:a="http://schemas.openxmlformats.org/drawingml/2006/main">
            <a:off x="720000" y="2232000"/>
            <a:ext cx="10800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CoverTitle"/>
          <p:cNvSpPr txBox="1"/>
          <p:nvPr/>
        </p:nvSpPr>
        <p:spPr>
          <a:xfrm xmlns:a="http://schemas.openxmlformats.org/drawingml/2006/main">
            <a:off x="720000" y="2520000"/>
            <a:ext cx="86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  <a:latin typeface="Georgia"/>
                <a:ea typeface="Georgia"/>
              </a:rPr>
              <a:t>Deck Quality Gate</a:t>
            </a:r>
          </a:p>
        </p:txBody>
      </p:sp>
      <p:sp>
        <p:nvSpPr>
          <p:cNvPr id="100002" name="CoverSub"/>
          <p:cNvSpPr txBox="1"/>
          <p:nvPr/>
        </p:nvSpPr>
        <p:spPr>
          <a:xfrm xmlns:a="http://schemas.openxmlformats.org/drawingml/2006/main">
            <a:off x="720000" y="3744000"/>
            <a:ext cx="864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CADCFC"/>
                </a:solidFill>
                <a:latin typeface="Calibri"/>
                <a:ea typeface="Calibri"/>
              </a:rPr>
              <a:t>A deterministic linter for AI-generated slides</a:t>
            </a:r>
          </a:p>
        </p:txBody>
      </p:sp>
      <p:sp>
        <p:nvSpPr>
          <p:cNvPr id="100003" name="CoverMeta"/>
          <p:cNvSpPr txBox="1"/>
          <p:nvPr/>
        </p:nvSpPr>
        <p:spPr>
          <a:xfrm xmlns:a="http://schemas.openxmlformats.org/drawingml/2006/main">
            <a:off x="720000" y="5760000"/>
            <a:ext cx="86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8899BB"/>
                </a:solidFill>
                <a:latin typeface="Calibri"/>
                <a:ea typeface="Calibri"/>
              </a:rPr>
              <a:t>Tyler · September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4" name="T2"/>
          <p:cNvSpPr txBox="1"/>
          <p:nvPr/>
        </p:nvSpPr>
        <p:spPr>
          <a:xfrm xmlns:a="http://schemas.openxmlformats.org/drawingml/2006/main">
            <a:off x="540000" y="432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What a text-only gate cannot see</a:t>
            </a:r>
          </a:p>
        </p:txBody>
      </p:sp>
      <p:sp>
        <p:nvSpPr>
          <p:cNvPr id="100005" name="TextBox 2"/>
          <p:cNvSpPr/>
          <p:nvPr/>
        </p:nvSpPr>
        <p:spPr>
          <a:xfrm xmlns:a="http://schemas.openxmlformats.org/drawingml/2006/main">
            <a:off x="540000" y="1800000"/>
            <a:ext cx="3520800" cy="25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6" name="TextBox 3"/>
          <p:cNvSpPr txBox="1"/>
          <p:nvPr/>
        </p:nvSpPr>
        <p:spPr>
          <a:xfrm xmlns:a="http://schemas.openxmlformats.org/drawingml/2006/main">
            <a:off x="540000" y="2088000"/>
            <a:ext cx="3520800" cy="10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6000" b="1">
                <a:solidFill>
                  <a:srgbClr val="FFFFFF"/>
                </a:solidFill>
                <a:latin typeface="Georgia"/>
                <a:ea typeface="Georgia"/>
              </a:rPr>
              <a:t>61</a:t>
            </a:r>
          </a:p>
        </p:txBody>
      </p:sp>
      <p:sp>
        <p:nvSpPr>
          <p:cNvPr id="100007" name="TextBox 4"/>
          <p:cNvSpPr txBox="1"/>
          <p:nvPr/>
        </p:nvSpPr>
        <p:spPr>
          <a:xfrm xmlns:a="http://schemas.openxmlformats.org/drawingml/2006/main">
            <a:off x="540000" y="3240000"/>
            <a:ext cx="35208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CADCFC"/>
                </a:solidFill>
                <a:latin typeface="Calibri"/>
                <a:ea typeface="Calibri"/>
              </a:rPr>
              <a:t>impeccable rules</a:t>
            </a:r>
          </a:p>
        </p:txBody>
      </p:sp>
      <p:sp>
        <p:nvSpPr>
          <p:cNvPr id="100008" name="TextBox 5"/>
          <p:cNvSpPr/>
          <p:nvPr/>
        </p:nvSpPr>
        <p:spPr>
          <a:xfrm xmlns:a="http://schemas.openxmlformats.org/drawingml/2006/main">
            <a:off x="4334400" y="1800000"/>
            <a:ext cx="3520800" cy="25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9" name="TextBox 6"/>
          <p:cNvSpPr txBox="1"/>
          <p:nvPr/>
        </p:nvSpPr>
        <p:spPr>
          <a:xfrm xmlns:a="http://schemas.openxmlformats.org/drawingml/2006/main">
            <a:off x="4334400" y="2088000"/>
            <a:ext cx="3520800" cy="10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6000" b="1">
                <a:solidFill>
                  <a:srgbClr val="FFFFFF"/>
                </a:solidFill>
                <a:latin typeface="Georgia"/>
                <a:ea typeface="Georgia"/>
              </a:rPr>
              <a:t>0</a:t>
            </a:r>
          </a:p>
        </p:txBody>
      </p:sp>
      <p:sp>
        <p:nvSpPr>
          <p:cNvPr id="100010" name="TextBox 7"/>
          <p:cNvSpPr txBox="1"/>
          <p:nvPr/>
        </p:nvSpPr>
        <p:spPr>
          <a:xfrm xmlns:a="http://schemas.openxmlformats.org/drawingml/2006/main">
            <a:off x="4334400" y="3240000"/>
            <a:ext cx="35208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CADCFC"/>
                </a:solidFill>
                <a:latin typeface="Calibri"/>
                <a:ea typeface="Calibri"/>
              </a:rPr>
              <a:t>for .pptx today</a:t>
            </a:r>
          </a:p>
        </p:txBody>
      </p:sp>
      <p:sp>
        <p:nvSpPr>
          <p:cNvPr id="100011" name="TextBox 8"/>
          <p:cNvSpPr/>
          <p:nvPr/>
        </p:nvSpPr>
        <p:spPr>
          <a:xfrm xmlns:a="http://schemas.openxmlformats.org/drawingml/2006/main">
            <a:off x="8128800" y="1800000"/>
            <a:ext cx="3520800" cy="25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2" name="TextBox 9"/>
          <p:cNvSpPr txBox="1"/>
          <p:nvPr/>
        </p:nvSpPr>
        <p:spPr>
          <a:xfrm xmlns:a="http://schemas.openxmlformats.org/drawingml/2006/main">
            <a:off x="8128800" y="2088000"/>
            <a:ext cx="3520800" cy="10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6000" b="1">
                <a:solidFill>
                  <a:srgbClr val="FFFFFF"/>
                </a:solidFill>
                <a:latin typeface="Georgia"/>
                <a:ea typeface="Georgia"/>
              </a:rPr>
              <a:t>3</a:t>
            </a:r>
          </a:p>
        </p:txBody>
      </p:sp>
      <p:sp>
        <p:nvSpPr>
          <p:cNvPr id="100013" name="TextBox 10"/>
          <p:cNvSpPr txBox="1"/>
          <p:nvPr/>
        </p:nvSpPr>
        <p:spPr>
          <a:xfrm xmlns:a="http://schemas.openxmlformats.org/drawingml/2006/main">
            <a:off x="8128800" y="3240000"/>
            <a:ext cx="35208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fix cycles, then give up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4" name="T3"/>
          <p:cNvSpPr txBox="1"/>
          <p:nvPr/>
        </p:nvSpPr>
        <p:spPr>
          <a:xfrm xmlns:a="http://schemas.openxmlformats.org/drawingml/2006/main">
            <a:off x="540000" y="432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Where the rules actually live</a:t>
            </a:r>
          </a:p>
        </p:txBody>
      </p:sp>
      <p:graphicFrame>
        <p:nvGraphicFramePr>
          <p:cNvPr id="100015" name="Rule count by enforcement"/>
          <p:cNvGraphicFramePr/>
          <p:nvPr/>
        </p:nvGraphicFramePr>
        <p:xfrm>
          <a:off xmlns:a="http://schemas.openxmlformats.org/drawingml/2006/main" x="540000" y="1620000"/>
          <a:ext xmlns:a="http://schemas.openxmlformats.org/drawingml/2006/main" cx="7200000" cy="450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8d69c38a444c45"/>
          </a:graphicData>
        </a:graphic>
      </p:graphicFrame>
      <p:sp>
        <p:nvSpPr>
          <p:cNvPr id="100016" name="TextBox 2"/>
          <p:cNvSpPr/>
          <p:nvPr/>
        </p:nvSpPr>
        <p:spPr>
          <a:xfrm xmlns:a="http://schemas.openxmlformats.org/drawingml/2006/main">
            <a:off x="8100000" y="1620000"/>
            <a:ext cx="3553200" cy="4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7" name="TextBox 3"/>
          <p:cNvSpPr txBox="1"/>
          <p:nvPr/>
        </p:nvSpPr>
        <p:spPr>
          <a:xfrm xmlns:a="http://schemas.openxmlformats.org/drawingml/2006/main">
            <a:off x="8280000" y="1872000"/>
            <a:ext cx="3204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E2761"/>
                </a:solidFill>
                <a:latin typeface="Georgia"/>
                <a:ea typeface="Georgia"/>
              </a:rPr>
              <a:t>Key insight</a:t>
            </a:r>
          </a:p>
        </p:txBody>
      </p:sp>
      <p:sp>
        <p:nvSpPr>
          <p:cNvPr id="100018" name="TextBox 4"/>
          <p:cNvSpPr txBox="1"/>
          <p:nvPr/>
        </p:nvSpPr>
        <p:spPr>
          <a:xfrm xmlns:a="http://schemas.openxmlformats.org/drawingml/2006/main">
            <a:off x="8280000" y="2448000"/>
            <a:ext cx="3204000" cy="32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Both deck skills carry rich design guidance and zero enforcement. Impeccable has the enforcement and none of it targets slides.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9" name="T4"/>
          <p:cNvSpPr txBox="1"/>
          <p:nvPr/>
        </p:nvSpPr>
        <p:spPr>
          <a:xfrm xmlns:a="http://schemas.openxmlformats.org/drawingml/2006/main">
            <a:off x="540000" y="432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The loop</a:t>
            </a:r>
          </a:p>
        </p:txBody>
      </p:sp>
      <p:sp>
        <p:nvSpPr>
          <p:cNvPr id="100020" name="S1"/>
          <p:cNvSpPr/>
          <p:nvPr/>
        </p:nvSpPr>
        <p:spPr>
          <a:xfrm xmlns:a="http://schemas.openxmlformats.org/drawingml/2006/main">
            <a:off x="540000" y="2880000"/>
            <a:ext cx="216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officecli edit</a:t>
            </a:r>
          </a:p>
        </p:txBody>
      </p:sp>
      <p:sp>
        <p:nvSpPr>
          <p:cNvPr id="100021" name="S2"/>
          <p:cNvSpPr/>
          <p:nvPr/>
        </p:nvSpPr>
        <p:spPr>
          <a:xfrm xmlns:a="http://schemas.openxmlformats.org/drawingml/2006/main">
            <a:off x="3524400" y="2880000"/>
            <a:ext cx="216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1E2761"/>
                </a:solidFill>
                <a:latin typeface="Calibri"/>
                <a:ea typeface="Calibri"/>
              </a:rPr>
              <a:t>dump to JSON</a:t>
            </a:r>
          </a:p>
        </p:txBody>
      </p:sp>
      <p:sp>
        <p:nvSpPr>
          <p:cNvPr id="100022" name="S3"/>
          <p:cNvSpPr/>
          <p:nvPr/>
        </p:nvSpPr>
        <p:spPr>
          <a:xfrm xmlns:a="http://schemas.openxmlformats.org/drawingml/2006/main">
            <a:off x="6508800" y="2880000"/>
            <a:ext cx="216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deck-lint</a:t>
            </a:r>
          </a:p>
        </p:txBody>
      </p:sp>
      <p:sp>
        <p:nvSpPr>
          <p:cNvPr id="100023" name="S4"/>
          <p:cNvSpPr/>
          <p:nvPr/>
        </p:nvSpPr>
        <p:spPr>
          <a:xfrm xmlns:a="http://schemas.openxmlformats.org/drawingml/2006/main">
            <a:off x="9493200" y="2880000"/>
            <a:ext cx="216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hook feeds agent</a:t>
            </a:r>
          </a:p>
        </p:txBody>
      </p:sp>
      <p:cxnSp>
        <p:nvCxnSpPr>
          <p:cNvPr id="100024" name="Connector 1"/>
          <p:cNvCxnSpPr>
            <a:stCxn xmlns:a="http://schemas.openxmlformats.org/drawingml/2006/main" id="100020" idx="0"/>
            <a:endCxn xmlns:a="http://schemas.openxmlformats.org/drawingml/2006/main" id="100021" idx="0"/>
          </p:cNvCxnSpPr>
          <p:nvPr/>
        </p:nvCxnSpPr>
        <p:spPr>
          <a:xfrm xmlns:a="http://schemas.openxmlformats.org/drawingml/2006/main">
            <a:off x="2700000" y="3420000"/>
            <a:ext cx="8244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333333"/>
            </a:solidFill>
            <a:tailEnd type="triangle"/>
          </a:ln>
        </p:spPr>
      </p:cxnSp>
      <p:cxnSp>
        <p:nvCxnSpPr>
          <p:cNvPr id="100025" name="Connector 2"/>
          <p:cNvCxnSpPr>
            <a:stCxn xmlns:a="http://schemas.openxmlformats.org/drawingml/2006/main" id="100021" idx="0"/>
            <a:endCxn xmlns:a="http://schemas.openxmlformats.org/drawingml/2006/main" id="100022" idx="0"/>
          </p:cNvCxnSpPr>
          <p:nvPr/>
        </p:nvCxnSpPr>
        <p:spPr>
          <a:xfrm xmlns:a="http://schemas.openxmlformats.org/drawingml/2006/main">
            <a:off x="5684400" y="3420000"/>
            <a:ext cx="8244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333333"/>
            </a:solidFill>
            <a:tailEnd type="triangle"/>
          </a:ln>
        </p:spPr>
      </p:cxnSp>
      <p:cxnSp>
        <p:nvCxnSpPr>
          <p:cNvPr id="100026" name="Connector 3"/>
          <p:cNvCxnSpPr>
            <a:stCxn xmlns:a="http://schemas.openxmlformats.org/drawingml/2006/main" id="100022" idx="0"/>
            <a:endCxn xmlns:a="http://schemas.openxmlformats.org/drawingml/2006/main" id="100023" idx="0"/>
          </p:cNvCxnSpPr>
          <p:nvPr/>
        </p:nvCxnSpPr>
        <p:spPr>
          <a:xfrm xmlns:a="http://schemas.openxmlformats.org/drawingml/2006/main">
            <a:off x="8668800" y="3420000"/>
            <a:ext cx="8244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333333"/>
            </a:solidFill>
            <a:tailEnd type="triangle"/>
          </a:ln>
        </p:spPr>
      </p:cxn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2026-09-24T15:04:59Z</dcterms:created>
  <cp:lastModifiedBy>OfficeCLI</cp:lastModifiedBy>
  <dcterms:modified xsi:type="dcterms:W3CDTF">2026-09-24T15:04:59Z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2026-09-24T15:20:00Z</vt:lpwstr>
  </op:property>
</op:Properties>
</file>