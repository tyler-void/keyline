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E2422"/>
        </a:solidFill>
        <a:latin typeface="+mn-lt"/>
        <a:cs typeface="+mn-cs"/>
      </a:defRPr>
    </a:lvl1pPr>
    <a:lvl2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E2422"/>
        </a:solidFill>
        <a:latin typeface="+mn-lt"/>
        <a:cs typeface="+mn-cs"/>
      </a:defRPr>
    </a:lvl2pPr>
    <a:lvl3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E2422"/>
        </a:solidFill>
        <a:latin typeface="+mn-lt"/>
        <a:cs typeface="+mn-cs"/>
      </a:defRPr>
    </a:lvl3pPr>
    <a:lvl4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E2422"/>
        </a:solidFill>
        <a:latin typeface="+mn-lt"/>
        <a:cs typeface="+mn-cs"/>
      </a:defRPr>
    </a:lvl4pPr>
    <a:lvl5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E2422"/>
        </a:solidFill>
        <a:latin typeface="+mn-lt"/>
        <a:cs typeface="+mn-cs"/>
      </a:defRPr>
    </a:lvl5pPr>
    <a:lvl6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E2422"/>
        </a:solidFill>
        <a:latin typeface="+mn-lt"/>
        <a:cs typeface="+mn-cs"/>
      </a:defRPr>
    </a:lvl6pPr>
    <a:lvl7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E2422"/>
        </a:solidFill>
        <a:latin typeface="+mn-lt"/>
        <a:cs typeface="+mn-cs"/>
      </a:defRPr>
    </a:lvl7pPr>
    <a:lvl8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E2422"/>
        </a:solidFill>
        <a:latin typeface="+mn-lt"/>
        <a:cs typeface="+mn-cs"/>
      </a:defRPr>
    </a:lvl8pPr>
    <a:lvl9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E2422"/>
        </a:solidFill>
        <a:latin typeface="+mn-lt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545A55"/>
            </a:solidFill>
            <a:ln>
              <a:noFill/>
            </a:ln>
          </c:spPr>
          <c:dPt>
            <c:idx val="5"/>
            <c:spPr>
              <a:solidFill>
                <a:srgbClr val="3E6B2C"/>
              </a:solidFill>
            </c:spPr>
          </c:dPt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410.0</c:v>
                </c:pt>
                <c:pt idx="1">
                  <c:v>690.0</c:v>
                </c:pt>
                <c:pt idx="2">
                  <c:v>1120.0</c:v>
                </c:pt>
                <c:pt idx="3">
                  <c:v>1740.0</c:v>
                </c:pt>
                <c:pt idx="4">
                  <c:v>2450.0</c:v>
                </c:pt>
                <c:pt idx="5">
                  <c:v>3180.0</c:v>
                </c:pt>
              </c:numCache>
            </c:numRef>
          </c:val>
        </c:ser>
        <c:dLbls>
          <c:numFmt formatCode="#,##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500000001"/>
        <c:axId val="500000002"/>
      </c:barChart>
      <c:catAx>
        <c:axId val="50000000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7333"/>
            </a:solidFill>
          </a:ln>
        </c:sp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/>
        <c:delete/>
        <c:axPos val="l"/>
        <c:majorGridlines>
          <c:spPr>
            <a:ln w="6350">
              <a:solidFill>
                <a:srgbClr val="B8733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500000001"/>
        <c:crosses val="autoZero"/>
      </c:valAx>
    </c:plotArea>
    <c:dispBlanksAs val="gap"/>
  </c:chart>
  <c:txPr>
    <a:bodyPr/>
    <a:lstStyle/>
    <a:p>
      <a:pPr>
        <a:defRPr sz="1000">
          <a:solidFill>
            <a:srgbClr val="545A5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53678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spc="0">
                <a:solidFill>
                  <a:srgbClr val="1E2422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i="0" spc="0">
                <a:solidFill>
                  <a:srgbClr val="1E2422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545A55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E2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spc="0">
                <a:solidFill>
                  <a:srgbClr val="E6E7E3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i="0" cap="all" spc="80">
                <a:solidFill>
                  <a:srgbClr val="A9CB86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 spc="0">
                <a:solidFill>
                  <a:srgbClr val="1E2422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i="0" spc="0">
                <a:solidFill>
                  <a:srgbClr val="1E2422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545A55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7575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spc="0">
                <a:solidFill>
                  <a:srgbClr val="1E2422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300" b="0" i="0" spc="0">
                <a:solidFill>
                  <a:srgbClr val="1E2422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545A55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7575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spc="0">
                <a:solidFill>
                  <a:srgbClr val="1E2422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300" b="0" i="0" spc="0">
                <a:solidFill>
                  <a:srgbClr val="1E2422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300" b="0" i="0" spc="0">
                <a:solidFill>
                  <a:srgbClr val="1E2422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545A55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spc="0">
                <a:solidFill>
                  <a:srgbClr val="1E2422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i="0" cap="all" spc="80">
                <a:solidFill>
                  <a:srgbClr val="545A55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53678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spc="0">
                <a:solidFill>
                  <a:srgbClr val="1E2422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i="0" spc="0">
                <a:solidFill>
                  <a:srgbClr val="1E2422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545A55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spc="0">
                <a:solidFill>
                  <a:srgbClr val="1E2422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300" b="0" i="0" spc="0">
                <a:solidFill>
                  <a:srgbClr val="1E2422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E2422"/>
          </a:solidFill>
          <a:latin typeface="+mj-lt"/>
          <a:cs typeface="+mj-cs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E2422"/>
          </a:solidFill>
          <a:latin typeface="+mj-lt"/>
          <a:cs typeface="+mj-cs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E2422"/>
          </a:solidFill>
          <a:latin typeface="+mj-lt"/>
          <a:cs typeface="+mj-cs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E2422"/>
          </a:solidFill>
          <a:latin typeface="+mj-lt"/>
          <a:cs typeface="+mj-cs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E2422"/>
          </a:solidFill>
          <a:latin typeface="+mj-lt"/>
          <a:cs typeface="+mj-cs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E2422"/>
          </a:solidFill>
          <a:latin typeface="+mj-lt"/>
          <a:cs typeface="+mj-cs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E2422"/>
          </a:solidFill>
          <a:latin typeface="+mj-lt"/>
          <a:cs typeface="+mj-cs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E2422"/>
          </a:solidFill>
          <a:latin typeface="+mj-lt"/>
          <a:cs typeface="+mj-cs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E2422"/>
          </a:solidFill>
          <a:latin typeface="+mj-lt"/>
          <a:cs typeface="+mj-cs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1pPr>
      <a:lvl2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2pPr>
      <a:lvl3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3pPr>
      <a:lvl4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4pPr>
      <a:lvl5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5pPr>
      <a:lvl6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6pPr>
      <a:lvl7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7pPr>
      <a:lvl8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8pPr>
      <a:lvl9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1pPr>
      <a:lvl2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2pPr>
      <a:lvl3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3pPr>
      <a:lvl4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4pPr>
      <a:lvl5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5pPr>
      <a:lvl6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6pPr>
      <a:lvl7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7pPr>
      <a:lvl8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8pPr>
      <a:lvl9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E2422"/>
          </a:solidFill>
          <a:latin typeface="+mn-lt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53678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spc="0">
                <a:solidFill>
                  <a:srgbClr val="1E2422"/>
                </a:solidFill>
                <a:latin typeface="+mj-lt"/>
                <a:cs typeface="+mj-cs"/>
              </a:rPr>
              <a:t>BonsaiHub Q4: one season, one decision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spc="0">
                <a:solidFill>
                  <a:srgbClr val="1E2422"/>
                </a:solidFill>
                <a:latin typeface="+mn-lt"/>
                <a:cs typeface="+mn-cs"/>
              </a:rPr>
              <a:t>A pre-read for the Q4 planning meeting. It asks for one decision: launch Slow Match in Da Lat and Kyoto before we build any new feature, and give it a season to work.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spc="0">
                <a:solidFill>
                  <a:srgbClr val="545A55"/>
                </a:solidFill>
                <a:latin typeface="+mn-lt"/>
                <a:cs typeface="+mn-cs"/>
              </a:rP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spc="0">
                <a:solidFill>
                  <a:srgbClr val="1E2422"/>
                </a:solidFill>
                <a:latin typeface="+mj-lt"/>
                <a:cs typeface="+mj-cs"/>
              </a:rPr>
              <a:t>Launch Slow Match in Da Lat and Kyoto before we build anything new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spc="0">
                <a:solidFill>
                  <a:srgbClr val="1E2422"/>
                </a:solidFill>
                <a:latin typeface="+mn-lt"/>
                <a:cs typeface="+mn-cs"/>
              </a:rPr>
              <a:t>Three reasons, one on each of the next three pages: adoptions made slowly last; active keepers grow every month, faster each time; and trees are waiting for keepers, not for features.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37575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spc="0">
                <a:solidFill>
                  <a:srgbClr val="1E2422"/>
                </a:solidFill>
                <a:latin typeface="+mj-lt"/>
                <a:cs typeface="+mj-cs"/>
              </a:rPr>
              <a:t>Slow adoptions last: 0.4% are reversed, and 71% of keepers stay past 90 days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0" i="0" spc="0">
                <a:solidFill>
                  <a:srgbClr val="1E2422"/>
                </a:solidFill>
                <a:latin typeface="+mn-lt"/>
                <a:cs typeface="+mn-cs"/>
              </a:rPr>
              <a:t>71% of keepers are still active after 90 days, about one season.</a:t>
            </a:r>
          </a:p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0" i="0" spc="0">
                <a:solidFill>
                  <a:srgbClr val="1E2422"/>
                </a:solidFill>
                <a:latin typeface="+mn-lt"/>
                <a:cs typeface="+mn-cs"/>
              </a:rPr>
              <a:t>Slow Match puts a season of visits before every match, so a keeper adopts a tree they already know.</a:t>
            </a:r>
          </a:p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0" i="0" spc="0">
                <a:solidFill>
                  <a:srgbClr val="1E2422"/>
                </a:solidFill>
                <a:latin typeface="+mn-lt"/>
                <a:cs typeface="+mn-cs"/>
              </a:rPr>
              <a:t>These numbers show that slow adoptions last. They do not yet prove that Slow Match is the cause: we have no comparison without it.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spc="0">
                <a:solidFill>
                  <a:srgbClr val="545A55"/>
                </a:solidFill>
                <a:latin typeface="+mn-lt"/>
                <a:cs typeface="+mn-cs"/>
              </a:rPr>
              <a:t>Source: BonsaiHub adoption records, September 2026 (fictional); BonsaiHub product analytics, September 2026 (fictional)</a:t>
            </a:r>
          </a:p>
        </p:txBody>
      </p:sp>
      <p:sp>
        <p:nvSpPr>
          <p:cNvPr id="6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E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in-numeral"/>
          <p:cNvSpPr txBox="1"/>
          <p:nvPr/>
        </p:nvSpPr>
        <p:spPr>
          <a:xfrm>
            <a:off x="540000" y="2349000"/>
            <a:ext cx="7348000" cy="91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spc="0">
                <a:solidFill>
                  <a:srgbClr val="3E6B2C"/>
                </a:solidFill>
                <a:latin typeface="+mj-lt"/>
                <a:cs typeface="+mj-cs"/>
              </a:rPr>
              <a:t>0.4%</a:t>
            </a:r>
          </a:p>
        </p:txBody>
      </p:sp>
      <p:sp>
        <p:nvSpPr>
          <p:cNvPr id="8" name="main-label"/>
          <p:cNvSpPr txBox="1"/>
          <p:nvPr/>
        </p:nvSpPr>
        <p:spPr>
          <a:xfrm>
            <a:off x="540000" y="3263760"/>
            <a:ext cx="7348000" cy="2415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pc="80" cap="all">
                <a:solidFill>
                  <a:srgbClr val="545A55"/>
                </a:solidFill>
                <a:latin typeface="+mn-lt"/>
                <a:cs typeface="+mn-cs"/>
              </a:rPr>
              <a:t>of adoptions reversed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37575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spc="0">
                <a:solidFill>
                  <a:srgbClr val="1E2422"/>
                </a:solidFill>
                <a:latin typeface="+mj-lt"/>
                <a:cs typeface="+mj-cs"/>
              </a:rPr>
              <a:t>Active keepers grew every month since April, and each month added more than the last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0" i="0" spc="0">
                <a:solidFill>
                  <a:srgbClr val="1E2422"/>
                </a:solidFill>
                <a:latin typeface="+mn-lt"/>
                <a:cs typeface="+mn-cs"/>
              </a:rPr>
              <a:t>Each month from April to September added more keepers than the month before.</a:t>
            </a:r>
          </a:p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0" i="0" spc="0">
                <a:solidFill>
                  <a:srgbClr val="1E2422"/>
                </a:solidFill>
                <a:latin typeface="+mn-lt"/>
                <a:cs typeface="+mn-cs"/>
              </a:rPr>
              <a:t>The pilots test whether the same curve starts again in a new city.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spc="0">
                <a:solidFill>
                  <a:srgbClr val="545A55"/>
                </a:solidFill>
                <a:latin typeface="+mn-lt"/>
                <a:cs typeface="+mn-cs"/>
              </a:rPr>
              <a:t>Source: BonsaiHub product analytics, April to September 2026 (fictional)</a:t>
            </a:r>
          </a:p>
        </p:txBody>
      </p:sp>
      <p:sp>
        <p:nvSpPr>
          <p:cNvPr id="6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E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main-chart"/>
          <p:cNvGraphicFramePr>
            <a:graphicFrameLocks noGrp="1"/>
          </p:cNvGraphicFramePr>
          <p:nvPr/>
        </p:nvGraphicFramePr>
        <p:xfrm>
          <a:off x="540000" y="2349000"/>
          <a:ext cx="7348000" cy="333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37575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spc="0">
                <a:solidFill>
                  <a:srgbClr val="1E2422"/>
                </a:solidFill>
                <a:latin typeface="+mj-lt"/>
                <a:cs typeface="+mj-cs"/>
              </a:rPr>
              <a:t>12,400 trees are waiting: we are short of keepers, not of trees or features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0" i="0" spc="0">
                <a:solidFill>
                  <a:srgbClr val="1E2422"/>
                </a:solidFill>
                <a:latin typeface="+mn-lt"/>
                <a:cs typeface="+mn-cs"/>
              </a:rPr>
              <a:t>We have 3,180 active keepers: almost four waiting trees for each one.</a:t>
            </a:r>
          </a:p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0" i="0" spc="0">
                <a:solidFill>
                  <a:srgbClr val="1E2422"/>
                </a:solidFill>
                <a:latin typeface="+mn-lt"/>
                <a:cs typeface="+mn-cs"/>
              </a:rPr>
              <a:t>A new feature gives today's keepers more to do. A new city brings new keepers, and keepers are what the waitlist needs.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spc="0">
                <a:solidFill>
                  <a:srgbClr val="545A55"/>
                </a:solidFill>
                <a:latin typeface="+mn-lt"/>
                <a:cs typeface="+mn-cs"/>
              </a:rPr>
              <a:t>Source: BonsaiHub waitlist, September 2026 (fictional); BonsaiHub product analytics, September 2026 (fictional)</a:t>
            </a:r>
          </a:p>
        </p:txBody>
      </p:sp>
      <p:sp>
        <p:nvSpPr>
          <p:cNvPr id="6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E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in-numeral"/>
          <p:cNvSpPr txBox="1"/>
          <p:nvPr/>
        </p:nvSpPr>
        <p:spPr>
          <a:xfrm>
            <a:off x="540000" y="2349000"/>
            <a:ext cx="7348000" cy="91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spc="0">
                <a:solidFill>
                  <a:srgbClr val="1E2422"/>
                </a:solidFill>
                <a:latin typeface="+mj-lt"/>
                <a:cs typeface="+mj-cs"/>
              </a:rPr>
              <a:t>12,400</a:t>
            </a:r>
          </a:p>
        </p:txBody>
      </p:sp>
      <p:sp>
        <p:nvSpPr>
          <p:cNvPr id="8" name="main-label"/>
          <p:cNvSpPr txBox="1"/>
          <p:nvPr/>
        </p:nvSpPr>
        <p:spPr>
          <a:xfrm>
            <a:off x="540000" y="3263760"/>
            <a:ext cx="7348000" cy="2415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pc="80" cap="all">
                <a:solidFill>
                  <a:srgbClr val="545A55"/>
                </a:solidFill>
                <a:latin typeface="+mn-lt"/>
                <a:cs typeface="+mn-cs"/>
              </a:rPr>
              <a:t>trees on the waitlist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37575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spc="0">
                <a:solidFill>
                  <a:srgbClr val="1E2422"/>
                </a:solidFill>
                <a:latin typeface="+mj-lt"/>
                <a:cs typeface="+mj-cs"/>
              </a:rPr>
              <a:t>The four features we have already do their jobs; a fifth can wait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spc="0">
                <a:solidFill>
                  <a:srgbClr val="545A55"/>
                </a:solidFill>
                <a:latin typeface="+mn-lt"/>
                <a:cs typeface="+mn-cs"/>
              </a:rPr>
              <a:t>Source: BonsaiHub product analytics, September 2026 (fictional); BonsaiHub adoption records, September 2026 (fictional); BonsaiHub Wire Check logs,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E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main-table"/>
          <p:cNvGraphicFramePr>
            <a:graphicFrameLocks noGrp="1"/>
          </p:cNvGraphicFramePr>
          <p:nvPr/>
        </p:nvGraphicFramePr>
        <p:xfrm>
          <a:off x="540000" y="2349000"/>
          <a:ext cx="11112000" cy="333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0531"/>
                <a:gridCol w="6182070"/>
                <a:gridCol w="3109399"/>
              </a:tblGrid>
              <a:tr h="248630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spc="80" cap="all">
                          <a:solidFill>
                            <a:srgbClr val="545A55"/>
                          </a:solidFill>
                          <a:latin typeface="+mn-lt"/>
                          <a:cs typeface="+mn-cs"/>
                        </a:rPr>
                        <a:t>Feature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7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spc="80" cap="all">
                          <a:solidFill>
                            <a:srgbClr val="545A55"/>
                          </a:solidFill>
                          <a:latin typeface="+mn-lt"/>
                          <a:cs typeface="+mn-cs"/>
                        </a:rPr>
                        <a:t>What it does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7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spc="80" cap="all">
                          <a:solidFill>
                            <a:srgbClr val="545A55"/>
                          </a:solidFill>
                          <a:latin typeface="+mn-lt"/>
                          <a:cs typeface="+mn-cs"/>
                        </a:rPr>
                        <a:t>September signal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7333"/>
                      </a:solidFill>
                    </a:lnB>
                    <a:noFill/>
                  </a:tcPr>
                </a:tc>
              </a:tr>
              <a:tr h="315292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E2422"/>
                          </a:solidFill>
                          <a:latin typeface="+mn-lt"/>
                          <a:cs typeface="+mn-cs"/>
                        </a:rPr>
                        <a:t>Swipe the front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7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E2422"/>
                          </a:solidFill>
                          <a:latin typeface="+mn-lt"/>
                          <a:cs typeface="+mn-cs"/>
                        </a:rPr>
                        <a:t>Shows a tree from its front, with its age and care needs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7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E2422"/>
                          </a:solidFill>
                          <a:latin typeface="+mn-lt"/>
                          <a:cs typeface="+mn-cs"/>
                        </a:rPr>
                        <a:t>3.2% of swipes go right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7333"/>
                      </a:solidFill>
                    </a:lnB>
                    <a:noFill/>
                  </a:tcPr>
                </a:tc>
              </a:tr>
              <a:tr h="315292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E2422"/>
                          </a:solidFill>
                          <a:latin typeface="+mn-lt"/>
                          <a:cs typeface="+mn-cs"/>
                        </a:rPr>
                        <a:t>Slow Match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7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E2422"/>
                          </a:solidFill>
                          <a:latin typeface="+mn-lt"/>
                          <a:cs typeface="+mn-cs"/>
                        </a:rPr>
                        <a:t>Unlocks a match only after a season of visits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7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E2422"/>
                          </a:solidFill>
                          <a:latin typeface="+mn-lt"/>
                          <a:cs typeface="+mn-cs"/>
                        </a:rPr>
                        <a:t>0.4% of adoptions reversed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7333"/>
                      </a:solidFill>
                    </a:lnB>
                    <a:noFill/>
                  </a:tcPr>
                </a:tc>
              </a:tr>
              <a:tr h="315292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E2422"/>
                          </a:solidFill>
                          <a:latin typeface="+mn-lt"/>
                          <a:cs typeface="+mn-cs"/>
                        </a:rPr>
                        <a:t>The Hub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7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E2422"/>
                          </a:solidFill>
                          <a:latin typeface="+mn-lt"/>
                          <a:cs typeface="+mn-cs"/>
                        </a:rPr>
                        <a:t>A feed of close-ups of roots, bark and deadwood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7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E2422"/>
                          </a:solidFill>
                          <a:latin typeface="+mn-lt"/>
                          <a:cs typeface="+mn-cs"/>
                        </a:rPr>
                        <a:t>No number yet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7333"/>
                      </a:solidFill>
                    </a:lnB>
                    <a:noFill/>
                  </a:tcPr>
                </a:tc>
              </a:tr>
              <a:tr h="315292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E2422"/>
                          </a:solidFill>
                          <a:latin typeface="+mn-lt"/>
                          <a:cs typeface="+mn-cs"/>
                        </a:rPr>
                        <a:t>Wire Check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7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E2422"/>
                          </a:solidFill>
                          <a:latin typeface="+mn-lt"/>
                          <a:cs typeface="+mn-cs"/>
                        </a:rPr>
                        <a:t>Reminds keepers to take wire off before it cuts the bark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733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E2422"/>
                          </a:solidFill>
                          <a:latin typeface="+mn-lt"/>
                          <a:cs typeface="+mn-cs"/>
                        </a:rPr>
                        <a:t>1,900 wire scars prevented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7333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53678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spc="0">
                <a:solidFill>
                  <a:srgbClr val="1E2422"/>
                </a:solidFill>
                <a:latin typeface="+mj-lt"/>
                <a:cs typeface="+mj-cs"/>
              </a:rPr>
              <a:t>Give Slow Match a season in Da Lat and Kyoto first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spc="0">
                <a:solidFill>
                  <a:srgbClr val="1E2422"/>
                </a:solidFill>
                <a:latin typeface="+mn-lt"/>
                <a:cs typeface="+mn-cs"/>
              </a:rPr>
              <a:t>Approve it at the Q4 meeting, and Slow Match spends this quarter in Da Lat and Kyoto. New features wait until both cities are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E2422"/>
      </a:dk1>
      <a:lt1>
        <a:srgbClr val="E6E7E3"/>
      </a:lt1>
      <a:dk2>
        <a:srgbClr val="545A55"/>
      </a:dk2>
      <a:lt2>
        <a:srgbClr val="B87333"/>
      </a:lt2>
      <a:accent1>
        <a:srgbClr val="3E6B2C"/>
      </a:accent1>
      <a:accent2>
        <a:srgbClr val="A9CB86"/>
      </a:accent2>
      <a:accent3>
        <a:srgbClr val="545A55"/>
      </a:accent3>
      <a:accent4>
        <a:srgbClr val="B87333"/>
      </a:accent4>
      <a:accent5>
        <a:srgbClr val="1E2422"/>
      </a:accent5>
      <a:accent6>
        <a:srgbClr val="545A55"/>
      </a:accent6>
      <a:hlink>
        <a:srgbClr val="1E2422"/>
      </a:hlink>
      <a:folHlink>
        <a:srgbClr val="545A55"/>
      </a:folHlink>
    </a:clrScheme>
    <a:fontScheme name="swiss">
      <a:majorFont>
        <a:latin typeface="Georgia"/>
        <a:ea typeface=""/>
        <a:cs typeface="Georgia"/>
      </a:majorFont>
      <a:minorFont>
        <a:latin typeface="Calibri"/>
        <a:ea typeface=""/>
        <a:cs typeface="Calibri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keyline swiss inline (read)</dc:title>
  <dc:creator>Tyler</dc:creator>
  <cp:lastModifiedBy>Tyler</cp:lastModifiedBy>
  <cp:revision>1</cp:revision>
  <dcterms:created xsi:type="dcterms:W3CDTF">2026-09-27T00:00:00Z</dcterms:created>
  <dcterms:modified xsi:type="dcterms:W3CDTF">2026-09-27T00:00:00Z</dcterms:modified>
</cp:coreProperties>
</file>