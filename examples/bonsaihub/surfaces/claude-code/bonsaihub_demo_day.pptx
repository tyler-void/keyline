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2B2826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F555A"/>
            </a:solidFill>
            <a:ln>
              <a:noFill/>
            </a:ln>
          </c:spPr>
          <c:dPt>
            <c:idx val="5"/>
            <c:spPr>
              <a:solidFill>
                <a:srgbClr val="3E6B35"/>
              </a:solidFill>
            </c:spPr>
          </c:dPt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410.0</c:v>
                </c:pt>
                <c:pt idx="1">
                  <c:v>690.0</c:v>
                </c:pt>
                <c:pt idx="2">
                  <c:v>1120.0</c:v>
                </c:pt>
                <c:pt idx="3">
                  <c:v>1740.0</c:v>
                </c:pt>
                <c:pt idx="4">
                  <c:v>2450.0</c:v>
                </c:pt>
                <c:pt idx="5">
                  <c:v>3180.0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97A4B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/>
        <c:delete/>
        <c:axPos val="l"/>
        <c:majorGridlines>
          <c:spPr>
            <a:ln w="6350">
              <a:solidFill>
                <a:srgbClr val="B97A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500000001"/>
        <c:crosses val="autoZero"/>
      </c:valAx>
    </c:plotArea>
    <c:dispBlanksAs val="gap"/>
  </c:chart>
  <c:txPr>
    <a:bodyPr/>
    <a:lstStyle/>
    <a:p>
      <a:pPr>
        <a:defRPr sz="1400">
          <a:solidFill>
            <a:srgbClr val="4F55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afternoon. This is BonsaiHub.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Itoigawa. A shimpaku juniper, collected from the wild, 212 years old.</a:t>
            </a:r>
          </a:p>
          <a:p>
            <a:r>
              <a:t>Likes: morning sun, akadama, being left alone in winter. Dealbreakers: overwatering, and wire left on past August.</a:t>
            </a:r>
          </a:p>
          <a:p>
            <a:r>
              <a:t>Itoigawa is not looking for anything casual. Neither is anyone who keeps a bonsai.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profile shows a tree from its front: the side it was styled to be seen from. Swipe right, and you ask for a visit.</a:t>
            </a:r>
          </a:p>
          <a:p>
            <a:r>
              <a:t>The match only unlocks after a full season of visits. Nobody adopts a juniper on impulse.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would expect a dating app that makes people wait to stall. It has not.</a:t>
            </a:r>
          </a:p>
          <a:p>
            <a:r>
              <a:t>We had 410 active keepers in April. In September we had 3,180.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71% of keepers are still active after 90 days.</a:t>
            </a:r>
          </a:p>
          <a:p>
            <a:r>
              <a:t>And only 0.4% of adoptions are ever reversed. The people who wait are the people who stay.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BonsaiHub, nothing happens after one visit. So we are asking for a second one.</a:t>
            </a:r>
          </a:p>
          <a:p>
            <a:r>
              <a:t>We are raising a $1.2M seed round, and 12,400 trees are already on the waitlist. Book a meeting with us before the season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88568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2B2826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2B2826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F55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2B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E6E8E3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9CC47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2B2826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2B2826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F55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64413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2B2826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2B2826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F55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64413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2B2826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2B2826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2B2826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F55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2B2826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4F55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88568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2B2826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2B2826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F55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2B2826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2B2826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2B2826"/>
          </a:solidFill>
          <a:latin typeface="+mj-lt"/>
          <a:cs typeface="+mj-cs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2B2826"/>
          </a:solidFill>
          <a:latin typeface="+mn-lt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88568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2B2826"/>
                </a:solidFill>
                <a:latin typeface="+mj-lt"/>
                <a:cs typeface="+mj-cs"/>
              </a:rPr>
              <a:t>BonsaiHub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2B2826"/>
                </a:solidFill>
                <a:latin typeface="+mn-lt"/>
                <a:cs typeface="+mn-cs"/>
              </a:rPr>
              <a:t>A dating app for bonsai trees and the people patient enough to keep them.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4F555A"/>
                </a:solidFill>
                <a:latin typeface="+mn-lt"/>
                <a:cs typeface="+mn-cs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spc="0">
                <a:solidFill>
                  <a:srgbClr val="2B2826"/>
                </a:solidFill>
                <a:latin typeface="+mj-lt"/>
                <a:cs typeface="+mj-cs"/>
              </a:rPr>
              <a:t>Looking for someone who stays for decades.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112" cap="all">
                <a:solidFill>
                  <a:srgbClr val="4F555A"/>
                </a:solidFill>
                <a:latin typeface="+mn-lt"/>
                <a:cs typeface="+mn-cs"/>
              </a:rPr>
              <a:t>Itoigawa, a wild shimpaku juniper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2B2826"/>
                </a:solidFill>
                <a:latin typeface="+mj-lt"/>
                <a:cs typeface="+mj-cs"/>
              </a:rPr>
              <a:t>A match here takes a season, not a second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2B2826"/>
                </a:solidFill>
                <a:latin typeface="+mn-lt"/>
                <a:cs typeface="+mn-cs"/>
              </a:rPr>
              <a:t>Swipe right on a tree’s front to ask for a visit. The match unlocks after a full season of visits.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64413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2B2826"/>
                </a:solidFill>
                <a:latin typeface="+mj-lt"/>
                <a:cs typeface="+mj-cs"/>
              </a:rPr>
              <a:t>Active keepers have grown every month since April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4F555A"/>
                </a:solidFill>
                <a:latin typeface="+mn-lt"/>
                <a:cs typeface="+mn-cs"/>
              </a:rPr>
              <a:t>Source: BonsaiHub product analytics, April to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2B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main-chart"/>
          <p:cNvGraphicFramePr>
            <a:graphicFrameLocks noGrp="1"/>
          </p:cNvGraphicFramePr>
          <p:nvPr/>
        </p:nvGraphicFramePr>
        <p:xfrm>
          <a:off x="540000" y="2349000"/>
          <a:ext cx="11112000" cy="333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64413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2B2826"/>
                </a:solidFill>
                <a:latin typeface="+mj-lt"/>
                <a:cs typeface="+mj-cs"/>
              </a:rPr>
              <a:t>Keepers who wait for a match stay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2B2826"/>
                </a:solidFill>
                <a:latin typeface="+mn-lt"/>
                <a:cs typeface="+mn-cs"/>
              </a:rPr>
              <a:t>Only 0.4% of adoptions are ever reversed.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4F555A"/>
                </a:solidFill>
                <a:latin typeface="+mn-lt"/>
                <a:cs typeface="+mn-cs"/>
              </a:rPr>
              <a:t>Source: BonsaiHub product analytics, September 2026 (fictional); BonsaiHub adoption records, September 2026 (fictional)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2B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in-numeral"/>
          <p:cNvSpPr txBox="1"/>
          <p:nvPr/>
        </p:nvSpPr>
        <p:spPr>
          <a:xfrm>
            <a:off x="540000" y="2349000"/>
            <a:ext cx="7348000" cy="1829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spc="0">
                <a:solidFill>
                  <a:srgbClr val="3E6B35"/>
                </a:solidFill>
                <a:latin typeface="+mj-lt"/>
                <a:cs typeface="+mj-cs"/>
              </a:rPr>
              <a:t>71%</a:t>
            </a:r>
          </a:p>
        </p:txBody>
      </p:sp>
      <p:sp>
        <p:nvSpPr>
          <p:cNvPr id="8" name="main-label"/>
          <p:cNvSpPr txBox="1"/>
          <p:nvPr/>
        </p:nvSpPr>
        <p:spPr>
          <a:xfrm>
            <a:off x="540000" y="4178160"/>
            <a:ext cx="7348000" cy="1500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112" cap="all">
                <a:solidFill>
                  <a:srgbClr val="4F555A"/>
                </a:solidFill>
                <a:latin typeface="+mn-lt"/>
                <a:cs typeface="+mn-cs"/>
              </a:rPr>
              <a:t>90-day keeper retention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88568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2B2826"/>
                </a:solidFill>
                <a:latin typeface="+mj-lt"/>
                <a:cs typeface="+mj-cs"/>
              </a:rPr>
              <a:t>Book a second visit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2B2826"/>
                </a:solidFill>
                <a:latin typeface="+mn-lt"/>
                <a:cs typeface="+mn-cs"/>
              </a:rPr>
              <a:t>We are raising a $1.2M seed round. 12,400 trees are already on the waitlist.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4F555A"/>
                </a:solidFill>
                <a:latin typeface="+mn-lt"/>
                <a:cs typeface="+mn-cs"/>
              </a:rPr>
              <a:t>Source: BonsaiHub fundraising plan (fictional); BonsaiHub waitlist, September 2026 (fictional)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2B2826"/>
      </a:dk1>
      <a:lt1>
        <a:srgbClr val="E6E8E3"/>
      </a:lt1>
      <a:dk2>
        <a:srgbClr val="4F555A"/>
      </a:dk2>
      <a:lt2>
        <a:srgbClr val="B97A4B"/>
      </a:lt2>
      <a:accent1>
        <a:srgbClr val="3E6B35"/>
      </a:accent1>
      <a:accent2>
        <a:srgbClr val="9CC47A"/>
      </a:accent2>
      <a:accent3>
        <a:srgbClr val="4F555A"/>
      </a:accent3>
      <a:accent4>
        <a:srgbClr val="B97A4B"/>
      </a:accent4>
      <a:accent5>
        <a:srgbClr val="2B2826"/>
      </a:accent5>
      <a:accent6>
        <a:srgbClr val="4F555A"/>
      </a:accent6>
      <a:hlink>
        <a:srgbClr val="2B2826"/>
      </a:hlink>
      <a:folHlink>
        <a:srgbClr val="4F555A"/>
      </a:folHlink>
    </a:clrScheme>
    <a:fontScheme name="swiss">
      <a:majorFont>
        <a:latin typeface="Georgia"/>
        <a:ea typeface=""/>
        <a:cs typeface="Georgia"/>
      </a:majorFont>
      <a:minorFont>
        <a:latin typeface="Arial"/>
        <a:ea typeface=""/>
        <a:cs typeface="Arial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inline (presented)</dc:title>
  <dc:creator/>
  <cp:lastModifiedBy/>
  <cp:revision>1</cp:revision>
  <dcterms:created xsi:type="dcterms:W3CDTF">2026-09-27T00:00:00Z</dcterms:created>
  <dcterms:modified xsi:type="dcterms:W3CDTF">2026-09-27T00:00:00Z</dcterms:modified>
</cp:coreProperties>
</file>