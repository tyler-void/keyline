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8"/>
    <p:sldId id="258" r:id="rId9"/>
    <p:sldId id="259" r:id="rId10"/>
    <p:sldId id="260" r:id="rId11"/>
    <p:sldId id="261" r:id="rId12"/>
    <p:sldId id="262" r:id="rId13"/>
    <p:sldId id="263" r:id="rId14"/>
    <p:sldId id="264" r:id="rId15"/>
    <p:sldId id="265" r:id="rId16"/>
    <p:sldId id="266" r:id="rId17"/>
  </p:sldIdLst>
  <p:sldSz cx="12192000" cy="6858000"/>
  <p:notesSz cx="6858000" cy="9144000"/>
  <p:defaultTextStyle>
    <a:lvl1pPr marL="0" indent="0" algn="l">
      <a:lnSpc>
        <a:spcPct val="110000"/>
      </a:lnSpc>
      <a:spcBef>
        <a:spcPts val="0"/>
      </a:spcBef>
      <a:spcAft>
        <a:spcPts val="600"/>
      </a:spcAft>
      <a:buNone/>
      <a:defRPr sz="2400" b="0" i="0" spc="0">
        <a:solidFill>
          <a:srgbClr val="1E2422"/>
        </a:solidFill>
        <a:latin typeface="+mn-lt"/>
        <a:cs typeface="+mn-cs"/>
      </a:defRPr>
    </a:lvl1pPr>
    <a:lvl2pPr marL="0" indent="0" algn="l">
      <a:lnSpc>
        <a:spcPct val="110000"/>
      </a:lnSpc>
      <a:spcBef>
        <a:spcPts val="0"/>
      </a:spcBef>
      <a:spcAft>
        <a:spcPts val="600"/>
      </a:spcAft>
      <a:buNone/>
      <a:defRPr sz="2400" b="0" i="0" spc="0">
        <a:solidFill>
          <a:srgbClr val="1E2422"/>
        </a:solidFill>
        <a:latin typeface="+mn-lt"/>
        <a:cs typeface="+mn-cs"/>
      </a:defRPr>
    </a:lvl2pPr>
    <a:lvl3pPr marL="0" indent="0" algn="l">
      <a:lnSpc>
        <a:spcPct val="110000"/>
      </a:lnSpc>
      <a:spcBef>
        <a:spcPts val="0"/>
      </a:spcBef>
      <a:spcAft>
        <a:spcPts val="600"/>
      </a:spcAft>
      <a:buNone/>
      <a:defRPr sz="2400" b="0" i="0" spc="0">
        <a:solidFill>
          <a:srgbClr val="1E2422"/>
        </a:solidFill>
        <a:latin typeface="+mn-lt"/>
        <a:cs typeface="+mn-cs"/>
      </a:defRPr>
    </a:lvl3pPr>
    <a:lvl4pPr marL="0" indent="0" algn="l">
      <a:lnSpc>
        <a:spcPct val="110000"/>
      </a:lnSpc>
      <a:spcBef>
        <a:spcPts val="0"/>
      </a:spcBef>
      <a:spcAft>
        <a:spcPts val="600"/>
      </a:spcAft>
      <a:buNone/>
      <a:defRPr sz="2400" b="0" i="0" spc="0">
        <a:solidFill>
          <a:srgbClr val="1E2422"/>
        </a:solidFill>
        <a:latin typeface="+mn-lt"/>
        <a:cs typeface="+mn-cs"/>
      </a:defRPr>
    </a:lvl4pPr>
    <a:lvl5pPr marL="0" indent="0" algn="l">
      <a:lnSpc>
        <a:spcPct val="110000"/>
      </a:lnSpc>
      <a:spcBef>
        <a:spcPts val="0"/>
      </a:spcBef>
      <a:spcAft>
        <a:spcPts val="600"/>
      </a:spcAft>
      <a:buNone/>
      <a:defRPr sz="2400" b="0" i="0" spc="0">
        <a:solidFill>
          <a:srgbClr val="1E2422"/>
        </a:solidFill>
        <a:latin typeface="+mn-lt"/>
        <a:cs typeface="+mn-cs"/>
      </a:defRPr>
    </a:lvl5pPr>
    <a:lvl6pPr marL="0" indent="0" algn="l">
      <a:lnSpc>
        <a:spcPct val="110000"/>
      </a:lnSpc>
      <a:spcBef>
        <a:spcPts val="0"/>
      </a:spcBef>
      <a:spcAft>
        <a:spcPts val="600"/>
      </a:spcAft>
      <a:buNone/>
      <a:defRPr sz="2400" b="0" i="0" spc="0">
        <a:solidFill>
          <a:srgbClr val="1E2422"/>
        </a:solidFill>
        <a:latin typeface="+mn-lt"/>
        <a:cs typeface="+mn-cs"/>
      </a:defRPr>
    </a:lvl6pPr>
    <a:lvl7pPr marL="0" indent="0" algn="l">
      <a:lnSpc>
        <a:spcPct val="110000"/>
      </a:lnSpc>
      <a:spcBef>
        <a:spcPts val="0"/>
      </a:spcBef>
      <a:spcAft>
        <a:spcPts val="600"/>
      </a:spcAft>
      <a:buNone/>
      <a:defRPr sz="2400" b="0" i="0" spc="0">
        <a:solidFill>
          <a:srgbClr val="1E2422"/>
        </a:solidFill>
        <a:latin typeface="+mn-lt"/>
        <a:cs typeface="+mn-cs"/>
      </a:defRPr>
    </a:lvl7pPr>
    <a:lvl8pPr marL="0" indent="0" algn="l">
      <a:lnSpc>
        <a:spcPct val="110000"/>
      </a:lnSpc>
      <a:spcBef>
        <a:spcPts val="0"/>
      </a:spcBef>
      <a:spcAft>
        <a:spcPts val="600"/>
      </a:spcAft>
      <a:buNone/>
      <a:defRPr sz="2400" b="0" i="0" spc="0">
        <a:solidFill>
          <a:srgbClr val="1E2422"/>
        </a:solidFill>
        <a:latin typeface="+mn-lt"/>
        <a:cs typeface="+mn-cs"/>
      </a:defRPr>
    </a:lvl8pPr>
    <a:lvl9pPr marL="0" indent="0" algn="l">
      <a:lnSpc>
        <a:spcPct val="110000"/>
      </a:lnSpc>
      <a:spcBef>
        <a:spcPts val="0"/>
      </a:spcBef>
      <a:spcAft>
        <a:spcPts val="600"/>
      </a:spcAft>
      <a:buNone/>
      <a:defRPr sz="2400" b="0" i="0" spc="0">
        <a:solidFill>
          <a:srgbClr val="1E2422"/>
        </a:solidFill>
        <a:latin typeface="+mn-lt"/>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90000" cy="900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notesMaster" Target="notesMasters/notesMaster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series</c:v>
                </c:pt>
              </c:strCache>
            </c:strRef>
          </c:tx>
          <c:spPr>
            <a:solidFill>
              <a:srgbClr val="545A55"/>
            </a:solidFill>
            <a:ln>
              <a:noFill/>
            </a:ln>
          </c:spPr>
          <c:dPt>
            <c:idx val="5"/>
            <c:spPr>
              <a:solidFill>
                <a:srgbClr val="3E6B2C"/>
              </a:solidFill>
            </c:spPr>
          </c:dPt>
          <c:cat>
            <c:strRef>
              <c:f>Sheet1!$A$2:$A$7</c:f>
              <c:strCache>
                <c:ptCount val="6"/>
                <c:pt idx="0">
                  <c:v>Apr</c:v>
                </c:pt>
                <c:pt idx="1">
                  <c:v>May</c:v>
                </c:pt>
                <c:pt idx="2">
                  <c:v>Jun</c:v>
                </c:pt>
                <c:pt idx="3">
                  <c:v>Jul</c:v>
                </c:pt>
                <c:pt idx="4">
                  <c:v>Aug</c:v>
                </c:pt>
                <c:pt idx="5">
                  <c:v>Sep</c:v>
                </c:pt>
              </c:strCache>
            </c:strRef>
          </c:cat>
          <c:val>
            <c:numRef>
              <c:f>Sheet1!$B$2:$B$7</c:f>
              <c:numCache>
                <c:formatCode>#,##0</c:formatCode>
                <c:ptCount val="6"/>
                <c:pt idx="0">
                  <c:v>410.0</c:v>
                </c:pt>
                <c:pt idx="1">
                  <c:v>690.0</c:v>
                </c:pt>
                <c:pt idx="2">
                  <c:v>1120.0</c:v>
                </c:pt>
                <c:pt idx="3">
                  <c:v>1740.0</c:v>
                </c:pt>
                <c:pt idx="4">
                  <c:v>2450.0</c:v>
                </c:pt>
                <c:pt idx="5">
                  <c:v>3180.0</c:v>
                </c:pt>
              </c:numCache>
            </c:numRef>
          </c:val>
        </c:ser>
        <c:dLbls>
          <c:numFmt formatCode="#,##0" sourceLinked="0"/>
          <c:dLblPos val="outEnd"/>
          <c:showLegendKey val="0"/>
          <c:showVal val="1"/>
          <c:showCatName val="0"/>
          <c:showSerName val="0"/>
          <c:showPercent val="0"/>
          <c:showBubbleSize val="0"/>
          <c:showLeaderLines val="1"/>
        </c:dLbls>
        <c:gapWidth val="60"/>
        <c:axId val="500000001"/>
        <c:axId val="500000002"/>
      </c:barChart>
      <c:catAx>
        <c:axId val="500000001"/>
        <c:scaling>
          <c:orientation val="minMax"/>
        </c:scaling>
        <c:delete val="0"/>
        <c:axPos val="b"/>
        <c:majorTickMark val="out"/>
        <c:minorTickMark val="none"/>
        <c:tickLblPos val="nextTo"/>
        <c:spPr>
          <a:ln>
            <a:solidFill>
              <a:srgbClr val="B87333"/>
            </a:solidFill>
          </a:ln>
        </c:spPr>
        <c:crossAx val="500000002"/>
        <c:crosses val="autoZero"/>
        <c:auto val="1"/>
        <c:lblAlgn val="ctr"/>
        <c:lblOffset val="100"/>
        <c:noMultiLvlLbl val="0"/>
      </c:catAx>
      <c:valAx>
        <c:axId val="500000002"/>
        <c:scaling/>
        <c:delete/>
        <c:axPos val="l"/>
        <c:majorGridlines>
          <c:spPr>
            <a:ln w="6350">
              <a:solidFill>
                <a:srgbClr val="B87333"/>
              </a:solidFill>
            </a:ln>
          </c:spPr>
        </c:majorGridlines>
        <c:majorTickMark val="out"/>
        <c:minorTickMark val="none"/>
        <c:tickLblPos val="nextTo"/>
        <c:spPr>
          <a:ln>
            <a:noFill/>
          </a:ln>
        </c:spPr>
        <c:crossAx val="500000001"/>
        <c:crosses val="autoZero"/>
      </c:valAx>
    </c:plotArea>
    <c:dispBlanksAs val="gap"/>
  </c:chart>
  <c:txPr>
    <a:bodyPr/>
    <a:lstStyle/>
    <a:p>
      <a:pPr>
        <a:defRPr sz="1400">
          <a:solidFill>
            <a:srgbClr val="545A55"/>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BonsaiHub is a dating app for bonsai trees and the people patient enough to keep them. Every match starts with a visit. Hold that word: I will come back to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median tree on BonsaiHub is 38 years old. People buy bonsai on a whim, at a garden centre, on a Saturday. The tree needs someone for decades. That gap is the problem we solve.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Meet Itoigawa. Shimpaku juniper, collected from the wild, the oldest tree on BonsaiHub. Every profile shows the tree from its front, the side it was styled to be seen from, with its age and its care needs. Swipe right and you are not matched. You are asking for a visit.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features. Swipe the front, which you just saw. Slow Match, which I will come to. The Hub: shamelessly beautiful close-ups of roots, bark and deadwood. And Wire Check, which reminds keepers to take training wire off before it cuts into the bark.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bet. Slow Match unlocks a match only after a full season of visits. Nobody adopts a juniper on impulse. Every other app is built to make matching faster. We made it slower, on purpose.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the wait buys. Four in a thousand adoptions are reversed. By the time a keeper takes a tree home, they have visited it for a season. They know its front, its roots, its dealbreakers.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keepers stay. Seventy-one percent are still active after ninety days, which is about one season. Patience is not a cost to our users. It is why they come back.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Growth. From 410 active keepers in April to 3,180 in September, up every single month.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trees are already here. 12,400 of them are on the waitlist. What we need is more keepers to visit them.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make money with Seasonal Boost, at $4.99 a month. Pricing and the plan behind it are for the second meeting.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BonsaiHub, nothing serious happens after one visit. So here is our ask. We are raising a $1.2M seed round, and next we take Slow Match to Da Lat and Kyoto. If that is your kind of patience, ask us for a second visit.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keyline:cover">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40000" y="1809000"/>
            <a:ext cx="9230000" cy="2160000"/>
          </a:xfrm>
          <a:prstGeom prst="rect">
            <a:avLst/>
          </a:prstGeom>
          <a:noFill/>
        </p:spPr>
        <p:txBody>
          <a:bodyPr vert="horz" wrap="square" lIns="0" tIns="0" rIns="0" bIns="88568" rtlCol="0" anchor="b">
            <a:noAutofit/>
          </a:bodyPr>
          <a:lstStyle>
            <a:lvl1pPr marL="0" indent="0" algn="l">
              <a:lnSpc>
                <a:spcPct val="100000"/>
              </a:lnSpc>
              <a:spcBef>
                <a:spcPts val="0"/>
              </a:spcBef>
              <a:spcAft>
                <a:spcPts val="0"/>
              </a:spcAft>
              <a:buNone/>
              <a:defRPr sz="6600" b="1" i="0" spc="0">
                <a:solidFill>
                  <a:srgbClr val="1E2422"/>
                </a:solidFill>
                <a:latin typeface="+mj-lt"/>
                <a:cs typeface="+mj-cs"/>
              </a:defRPr>
            </a:lvl1pPr>
          </a:lstStyle>
          <a:p>
            <a:r>
              <a:rPr lang="en-US"/>
              <a:t>Headline</a:t>
            </a:r>
          </a:p>
        </p:txBody>
      </p:sp>
      <p:sp>
        <p:nvSpPr>
          <p:cNvPr id="3" name="Main"/>
          <p:cNvSpPr>
            <a:spLocks noGrp="1"/>
          </p:cNvSpPr>
          <p:nvPr>
            <p:ph type="body" idx="1" hasCustomPrompt="1"/>
          </p:nvPr>
        </p:nvSpPr>
        <p:spPr>
          <a:xfrm>
            <a:off x="540000" y="4149000"/>
            <a:ext cx="9230000" cy="1440000"/>
          </a:xfrm>
          <a:prstGeom prst="rect">
            <a:avLst/>
          </a:prstGeom>
          <a:noFill/>
        </p:spPr>
        <p:txBody>
          <a:bodyPr vert="horz" wrap="square" lIns="0" tIns="0" rIns="0" bIns="0" rtlCol="0" anchor="t">
            <a:noAutofit/>
          </a:bodyPr>
          <a:lstStyle>
            <a:lvl1pPr marL="0" indent="0" algn="l">
              <a:lnSpc>
                <a:spcPct val="110000"/>
              </a:lnSpc>
              <a:spcBef>
                <a:spcPts val="0"/>
              </a:spcBef>
              <a:spcAft>
                <a:spcPts val="0"/>
              </a:spcAft>
              <a:buNone/>
              <a:defRPr sz="2800" b="0" i="0" spc="0">
                <a:solidFill>
                  <a:srgbClr val="1E2422"/>
                </a:solidFill>
                <a:latin typeface="+mn-lt"/>
                <a:cs typeface="+mn-cs"/>
              </a:defRPr>
            </a:lvl1pPr>
          </a:lstStyle>
          <a:p>
            <a:r>
              <a:rPr lang="en-US"/>
              <a:t>Text</a:t>
            </a:r>
          </a:p>
        </p:txBody>
      </p:sp>
      <p:sp>
        <p:nvSpPr>
          <p:cNvPr id="4" name="Footer"/>
          <p:cNvSpPr>
            <a:spLocks noGrp="1"/>
          </p:cNvSpPr>
          <p:nvPr>
            <p:ph type="body" idx="3" hasCustomPrompt="1"/>
          </p:nvPr>
        </p:nvSpPr>
        <p:spPr>
          <a:xfrm>
            <a:off x="540000" y="5769000"/>
            <a:ext cx="11112000" cy="540000"/>
          </a:xfrm>
          <a:prstGeom prst="rect">
            <a:avLst/>
          </a:prstGeom>
          <a:noFill/>
        </p:spPr>
        <p:txBody>
          <a:bodyPr vert="horz" wrap="square" lIns="0" tIns="0" rIns="0" bIns="0" rtlCol="0" anchor="t">
            <a:noAutofit/>
          </a:bodyPr>
          <a:lstStyle>
            <a:lvl1pPr marL="0" indent="0" algn="l">
              <a:lnSpc>
                <a:spcPct val="100000"/>
              </a:lnSpc>
              <a:spcBef>
                <a:spcPts val="0"/>
              </a:spcBef>
              <a:spcAft>
                <a:spcPts val="0"/>
              </a:spcAft>
              <a:buNone/>
              <a:defRPr sz="1200" b="0" i="0" spc="0">
                <a:solidFill>
                  <a:srgbClr val="545A55"/>
                </a:solidFill>
                <a:latin typeface="+mn-lt"/>
                <a:cs typeface="+mn-cs"/>
              </a:defRPr>
            </a:lvl1pPr>
          </a:lstStyle>
          <a:p>
            <a:r>
              <a:rPr lang="en-US"/>
              <a:t>Source: …</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keyline:section">
    <p:bg>
      <p:bgPr>
        <a:solidFill>
          <a:srgbClr val="1E2422"/>
        </a:solidFill>
        <a:effectLst/>
      </p:bgPr>
    </p:bg>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40000" y="2529000"/>
            <a:ext cx="9230000" cy="1620000"/>
          </a:xfrm>
          <a:prstGeom prst="rect">
            <a:avLst/>
          </a:prstGeom>
          <a:noFill/>
        </p:spPr>
        <p:txBody>
          <a:bodyPr vert="horz" wrap="square" lIns="0" tIns="0" rIns="0" bIns="0" rtlCol="0" anchor="t">
            <a:noAutofit/>
          </a:bodyPr>
          <a:lstStyle>
            <a:lvl1pPr marL="0" indent="0" algn="l">
              <a:lnSpc>
                <a:spcPct val="100000"/>
              </a:lnSpc>
              <a:spcBef>
                <a:spcPts val="0"/>
              </a:spcBef>
              <a:spcAft>
                <a:spcPts val="0"/>
              </a:spcAft>
              <a:buNone/>
              <a:defRPr sz="4800" b="1" i="0" spc="0">
                <a:solidFill>
                  <a:srgbClr val="E6E7E3"/>
                </a:solidFill>
                <a:latin typeface="+mj-lt"/>
                <a:cs typeface="+mj-cs"/>
              </a:defRPr>
            </a:lvl1pPr>
          </a:lstStyle>
          <a:p>
            <a:r>
              <a:rPr lang="en-US"/>
              <a:t>Headline</a:t>
            </a:r>
          </a:p>
        </p:txBody>
      </p:sp>
      <p:sp>
        <p:nvSpPr>
          <p:cNvPr id="3" name="Main"/>
          <p:cNvSpPr>
            <a:spLocks noGrp="1"/>
          </p:cNvSpPr>
          <p:nvPr>
            <p:ph type="body" idx="1" hasCustomPrompt="1"/>
          </p:nvPr>
        </p:nvSpPr>
        <p:spPr>
          <a:xfrm>
            <a:off x="540000" y="4329000"/>
            <a:ext cx="9230000" cy="360000"/>
          </a:xfrm>
          <a:prstGeom prst="rect">
            <a:avLst/>
          </a:prstGeom>
          <a:noFill/>
        </p:spPr>
        <p:txBody>
          <a:bodyPr vert="horz" wrap="square" lIns="0" tIns="0" rIns="0" bIns="0" rtlCol="0" anchor="t">
            <a:noAutofit/>
          </a:bodyPr>
          <a:lstStyle>
            <a:lvl1pPr marL="0" indent="0" algn="l">
              <a:lnSpc>
                <a:spcPct val="100000"/>
              </a:lnSpc>
              <a:spcBef>
                <a:spcPts val="0"/>
              </a:spcBef>
              <a:spcAft>
                <a:spcPts val="0"/>
              </a:spcAft>
              <a:buNone/>
              <a:defRPr sz="1400" b="1" i="0" cap="all" spc="112">
                <a:solidFill>
                  <a:srgbClr val="A9CB86"/>
                </a:solidFill>
                <a:latin typeface="+mn-lt"/>
                <a:cs typeface="+mn-cs"/>
              </a:defRPr>
            </a:lvl1pPr>
          </a:lstStyle>
          <a:p>
            <a:r>
              <a:rPr lang="en-US"/>
              <a:t>Text</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keyline:statement">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40000" y="729000"/>
            <a:ext cx="9230000" cy="2790000"/>
          </a:xfrm>
          <a:prstGeom prst="rect">
            <a:avLst/>
          </a:prstGeom>
          <a:noFill/>
        </p:spPr>
        <p:txBody>
          <a:bodyPr vert="horz" wrap="square" lIns="0" tIns="0" rIns="0" bIns="0" rtlCol="0" anchor="t">
            <a:noAutofit/>
          </a:bodyPr>
          <a:lstStyle>
            <a:lvl1pPr marL="0" indent="0" algn="l">
              <a:lnSpc>
                <a:spcPct val="100000"/>
              </a:lnSpc>
              <a:spcBef>
                <a:spcPts val="0"/>
              </a:spcBef>
              <a:spcAft>
                <a:spcPts val="0"/>
              </a:spcAft>
              <a:buNone/>
              <a:defRPr sz="6000" b="1" i="0" spc="0">
                <a:solidFill>
                  <a:srgbClr val="1E2422"/>
                </a:solidFill>
                <a:latin typeface="+mj-lt"/>
                <a:cs typeface="+mj-cs"/>
              </a:defRPr>
            </a:lvl1pPr>
          </a:lstStyle>
          <a:p>
            <a:r>
              <a:rPr lang="en-US"/>
              <a:t>Headline</a:t>
            </a:r>
          </a:p>
        </p:txBody>
      </p:sp>
      <p:sp>
        <p:nvSpPr>
          <p:cNvPr id="3" name="Main"/>
          <p:cNvSpPr>
            <a:spLocks noGrp="1"/>
          </p:cNvSpPr>
          <p:nvPr>
            <p:ph type="body" idx="1" hasCustomPrompt="1"/>
          </p:nvPr>
        </p:nvSpPr>
        <p:spPr>
          <a:xfrm>
            <a:off x="540000" y="3609000"/>
            <a:ext cx="9230000" cy="2070000"/>
          </a:xfrm>
          <a:prstGeom prst="rect">
            <a:avLst/>
          </a:prstGeom>
          <a:noFill/>
        </p:spPr>
        <p:txBody>
          <a:bodyPr vert="horz" wrap="square" lIns="0" tIns="0" rIns="0" bIns="0" rtlCol="0" anchor="t">
            <a:noAutofit/>
          </a:bodyPr>
          <a:lstStyle>
            <a:lvl1pPr marL="0" indent="0" algn="l">
              <a:lnSpc>
                <a:spcPct val="110000"/>
              </a:lnSpc>
              <a:spcBef>
                <a:spcPts val="0"/>
              </a:spcBef>
              <a:spcAft>
                <a:spcPts val="0"/>
              </a:spcAft>
              <a:buNone/>
              <a:defRPr sz="2800" b="0" i="0" spc="0">
                <a:solidFill>
                  <a:srgbClr val="1E2422"/>
                </a:solidFill>
                <a:latin typeface="+mn-lt"/>
                <a:cs typeface="+mn-cs"/>
              </a:defRPr>
            </a:lvl1pPr>
          </a:lstStyle>
          <a:p>
            <a:r>
              <a:rPr lang="en-US"/>
              <a:t>Text</a:t>
            </a:r>
          </a:p>
        </p:txBody>
      </p:sp>
      <p:sp>
        <p:nvSpPr>
          <p:cNvPr id="4" name="Footer"/>
          <p:cNvSpPr>
            <a:spLocks noGrp="1"/>
          </p:cNvSpPr>
          <p:nvPr>
            <p:ph type="body" idx="3" hasCustomPrompt="1"/>
          </p:nvPr>
        </p:nvSpPr>
        <p:spPr>
          <a:xfrm>
            <a:off x="540000" y="5769000"/>
            <a:ext cx="11112000" cy="540000"/>
          </a:xfrm>
          <a:prstGeom prst="rect">
            <a:avLst/>
          </a:prstGeom>
          <a:noFill/>
        </p:spPr>
        <p:txBody>
          <a:bodyPr vert="horz" wrap="square" lIns="0" tIns="0" rIns="0" bIns="0" rtlCol="0" anchor="t">
            <a:noAutofit/>
          </a:bodyPr>
          <a:lstStyle>
            <a:lvl1pPr marL="0" indent="0" algn="l">
              <a:lnSpc>
                <a:spcPct val="100000"/>
              </a:lnSpc>
              <a:spcBef>
                <a:spcPts val="0"/>
              </a:spcBef>
              <a:spcAft>
                <a:spcPts val="0"/>
              </a:spcAft>
              <a:buNone/>
              <a:defRPr sz="1200" b="0" i="0" spc="0">
                <a:solidFill>
                  <a:srgbClr val="545A55"/>
                </a:solidFill>
                <a:latin typeface="+mn-lt"/>
                <a:cs typeface="+mn-cs"/>
              </a:defRPr>
            </a:lvl1pPr>
          </a:lstStyle>
          <a:p>
            <a:r>
              <a:rPr lang="en-US"/>
              <a:t>Source: …</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keyline:evidence">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40000" y="549000"/>
            <a:ext cx="11112000" cy="1530000"/>
          </a:xfrm>
          <a:prstGeom prst="rect">
            <a:avLst/>
          </a:prstGeom>
          <a:noFill/>
        </p:spPr>
        <p:txBody>
          <a:bodyPr vert="horz" wrap="square" lIns="0" tIns="0" rIns="0" bIns="64413" rtlCol="0" anchor="b">
            <a:noAutofit/>
          </a:bodyPr>
          <a:lstStyle>
            <a:lvl1pPr marL="0" indent="0" algn="l">
              <a:lnSpc>
                <a:spcPct val="100000"/>
              </a:lnSpc>
              <a:spcBef>
                <a:spcPts val="0"/>
              </a:spcBef>
              <a:spcAft>
                <a:spcPts val="0"/>
              </a:spcAft>
              <a:buNone/>
              <a:defRPr sz="4800" b="1" i="0" spc="0">
                <a:solidFill>
                  <a:srgbClr val="1E2422"/>
                </a:solidFill>
                <a:latin typeface="+mj-lt"/>
                <a:cs typeface="+mj-cs"/>
              </a:defRPr>
            </a:lvl1pPr>
          </a:lstStyle>
          <a:p>
            <a:r>
              <a:rPr lang="en-US"/>
              <a:t>Headline</a:t>
            </a:r>
          </a:p>
        </p:txBody>
      </p:sp>
      <p:sp>
        <p:nvSpPr>
          <p:cNvPr id="3" name="Main"/>
          <p:cNvSpPr>
            <a:spLocks noGrp="1"/>
          </p:cNvSpPr>
          <p:nvPr>
            <p:ph type="body" idx="1" hasCustomPrompt="1"/>
          </p:nvPr>
        </p:nvSpPr>
        <p:spPr>
          <a:xfrm>
            <a:off x="540000" y="2349000"/>
            <a:ext cx="11112000" cy="3330000"/>
          </a:xfrm>
          <a:prstGeom prst="rect">
            <a:avLst/>
          </a:prstGeom>
          <a:noFill/>
        </p:spPr>
        <p:txBody>
          <a:bodyPr vert="horz" wrap="square" lIns="0" tIns="0" rIns="0" bIns="0" rtlCol="0" anchor="t">
            <a:noAutofit/>
          </a:bodyPr>
          <a:lstStyle>
            <a:lvl1pPr marL="0" indent="0" algn="l">
              <a:lnSpc>
                <a:spcPct val="110000"/>
              </a:lnSpc>
              <a:spcBef>
                <a:spcPts val="0"/>
              </a:spcBef>
              <a:spcAft>
                <a:spcPts val="600"/>
              </a:spcAft>
              <a:buNone/>
              <a:defRPr sz="2400" b="0" i="0" spc="0">
                <a:solidFill>
                  <a:srgbClr val="1E2422"/>
                </a:solidFill>
                <a:latin typeface="+mn-lt"/>
                <a:cs typeface="+mn-cs"/>
              </a:defRPr>
            </a:lvl1pPr>
          </a:lstStyle>
          <a:p>
            <a:r>
              <a:rPr lang="en-US"/>
              <a:t>Text</a:t>
            </a:r>
          </a:p>
        </p:txBody>
      </p:sp>
      <p:sp>
        <p:nvSpPr>
          <p:cNvPr id="4" name="Footer"/>
          <p:cNvSpPr>
            <a:spLocks noGrp="1"/>
          </p:cNvSpPr>
          <p:nvPr>
            <p:ph type="body" idx="3" hasCustomPrompt="1"/>
          </p:nvPr>
        </p:nvSpPr>
        <p:spPr>
          <a:xfrm>
            <a:off x="540000" y="5769000"/>
            <a:ext cx="11112000" cy="540000"/>
          </a:xfrm>
          <a:prstGeom prst="rect">
            <a:avLst/>
          </a:prstGeom>
          <a:noFill/>
        </p:spPr>
        <p:txBody>
          <a:bodyPr vert="horz" wrap="square" lIns="0" tIns="0" rIns="0" bIns="0" rtlCol="0" anchor="t">
            <a:noAutofit/>
          </a:bodyPr>
          <a:lstStyle>
            <a:lvl1pPr marL="0" indent="0" algn="l">
              <a:lnSpc>
                <a:spcPct val="100000"/>
              </a:lnSpc>
              <a:spcBef>
                <a:spcPts val="0"/>
              </a:spcBef>
              <a:spcAft>
                <a:spcPts val="0"/>
              </a:spcAft>
              <a:buNone/>
              <a:defRPr sz="1200" b="0" i="0" spc="0">
                <a:solidFill>
                  <a:srgbClr val="545A55"/>
                </a:solidFill>
                <a:latin typeface="+mn-lt"/>
                <a:cs typeface="+mn-cs"/>
              </a:defRPr>
            </a:lvl1pPr>
          </a:lstStyle>
          <a:p>
            <a:r>
              <a:rPr lang="en-US"/>
              <a:t>Source: …</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keyline:evidence:figure">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40000" y="549000"/>
            <a:ext cx="11112000" cy="1530000"/>
          </a:xfrm>
          <a:prstGeom prst="rect">
            <a:avLst/>
          </a:prstGeom>
          <a:noFill/>
        </p:spPr>
        <p:txBody>
          <a:bodyPr vert="horz" wrap="square" lIns="0" tIns="0" rIns="0" bIns="64413" rtlCol="0" anchor="b">
            <a:noAutofit/>
          </a:bodyPr>
          <a:lstStyle>
            <a:lvl1pPr marL="0" indent="0" algn="l">
              <a:lnSpc>
                <a:spcPct val="100000"/>
              </a:lnSpc>
              <a:spcBef>
                <a:spcPts val="0"/>
              </a:spcBef>
              <a:spcAft>
                <a:spcPts val="0"/>
              </a:spcAft>
              <a:buNone/>
              <a:defRPr sz="4800" b="1" i="0" spc="0">
                <a:solidFill>
                  <a:srgbClr val="1E2422"/>
                </a:solidFill>
                <a:latin typeface="+mj-lt"/>
                <a:cs typeface="+mj-cs"/>
              </a:defRPr>
            </a:lvl1pPr>
          </a:lstStyle>
          <a:p>
            <a:r>
              <a:rPr lang="en-US"/>
              <a:t>Headline</a:t>
            </a:r>
          </a:p>
        </p:txBody>
      </p:sp>
      <p:sp>
        <p:nvSpPr>
          <p:cNvPr id="3" name="Main"/>
          <p:cNvSpPr>
            <a:spLocks noGrp="1"/>
          </p:cNvSpPr>
          <p:nvPr>
            <p:ph type="body" idx="1" hasCustomPrompt="1"/>
          </p:nvPr>
        </p:nvSpPr>
        <p:spPr>
          <a:xfrm>
            <a:off x="540000" y="2349000"/>
            <a:ext cx="7348000" cy="3330000"/>
          </a:xfrm>
          <a:prstGeom prst="rect">
            <a:avLst/>
          </a:prstGeom>
          <a:noFill/>
        </p:spPr>
        <p:txBody>
          <a:bodyPr vert="horz" wrap="square" lIns="0" tIns="0" rIns="0" bIns="0" rtlCol="0" anchor="t">
            <a:noAutofit/>
          </a:bodyPr>
          <a:lstStyle>
            <a:lvl1pPr marL="0" indent="0" algn="l">
              <a:lnSpc>
                <a:spcPct val="110000"/>
              </a:lnSpc>
              <a:spcBef>
                <a:spcPts val="0"/>
              </a:spcBef>
              <a:spcAft>
                <a:spcPts val="600"/>
              </a:spcAft>
              <a:buNone/>
              <a:defRPr sz="2400" b="0" i="0" spc="0">
                <a:solidFill>
                  <a:srgbClr val="1E2422"/>
                </a:solidFill>
                <a:latin typeface="+mn-lt"/>
                <a:cs typeface="+mn-cs"/>
              </a:defRPr>
            </a:lvl1pPr>
          </a:lstStyle>
          <a:p>
            <a:r>
              <a:rPr lang="en-US"/>
              <a:t>Text</a:t>
            </a:r>
          </a:p>
        </p:txBody>
      </p:sp>
      <p:sp>
        <p:nvSpPr>
          <p:cNvPr id="4" name="Side"/>
          <p:cNvSpPr>
            <a:spLocks noGrp="1"/>
          </p:cNvSpPr>
          <p:nvPr>
            <p:ph type="body" idx="2" hasCustomPrompt="1"/>
          </p:nvPr>
        </p:nvSpPr>
        <p:spPr>
          <a:xfrm>
            <a:off x="8068000" y="2349000"/>
            <a:ext cx="3584000" cy="3330000"/>
          </a:xfrm>
          <a:prstGeom prst="rect">
            <a:avLst/>
          </a:prstGeom>
          <a:noFill/>
        </p:spPr>
        <p:txBody>
          <a:bodyPr vert="horz" wrap="square" lIns="0" tIns="0" rIns="0" bIns="0" rtlCol="0" anchor="t">
            <a:noAutofit/>
          </a:bodyPr>
          <a:lstStyle>
            <a:lvl1pPr marL="0" indent="0" algn="l">
              <a:lnSpc>
                <a:spcPct val="110000"/>
              </a:lnSpc>
              <a:spcBef>
                <a:spcPts val="0"/>
              </a:spcBef>
              <a:spcAft>
                <a:spcPts val="600"/>
              </a:spcAft>
              <a:buNone/>
              <a:defRPr sz="2400" b="0" i="0" spc="0">
                <a:solidFill>
                  <a:srgbClr val="1E2422"/>
                </a:solidFill>
                <a:latin typeface="+mn-lt"/>
                <a:cs typeface="+mn-cs"/>
              </a:defRPr>
            </a:lvl1pPr>
          </a:lstStyle>
          <a:p>
            <a:r>
              <a:rPr lang="en-US"/>
              <a:t>Text</a:t>
            </a:r>
          </a:p>
        </p:txBody>
      </p:sp>
      <p:sp>
        <p:nvSpPr>
          <p:cNvPr id="5" name="Footer"/>
          <p:cNvSpPr>
            <a:spLocks noGrp="1"/>
          </p:cNvSpPr>
          <p:nvPr>
            <p:ph type="body" idx="3" hasCustomPrompt="1"/>
          </p:nvPr>
        </p:nvSpPr>
        <p:spPr>
          <a:xfrm>
            <a:off x="540000" y="5769000"/>
            <a:ext cx="11112000" cy="540000"/>
          </a:xfrm>
          <a:prstGeom prst="rect">
            <a:avLst/>
          </a:prstGeom>
          <a:noFill/>
        </p:spPr>
        <p:txBody>
          <a:bodyPr vert="horz" wrap="square" lIns="0" tIns="0" rIns="0" bIns="0" rtlCol="0" anchor="t">
            <a:noAutofit/>
          </a:bodyPr>
          <a:lstStyle>
            <a:lvl1pPr marL="0" indent="0" algn="l">
              <a:lnSpc>
                <a:spcPct val="100000"/>
              </a:lnSpc>
              <a:spcBef>
                <a:spcPts val="0"/>
              </a:spcBef>
              <a:spcAft>
                <a:spcPts val="0"/>
              </a:spcAft>
              <a:buNone/>
              <a:defRPr sz="1200" b="0" i="0" spc="0">
                <a:solidFill>
                  <a:srgbClr val="545A55"/>
                </a:solidFill>
                <a:latin typeface="+mn-lt"/>
                <a:cs typeface="+mn-cs"/>
              </a:defRPr>
            </a:lvl1pPr>
          </a:lstStyle>
          <a:p>
            <a:r>
              <a:rPr lang="en-US"/>
              <a:t>Source: …</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keyline:quote">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40000" y="1089000"/>
            <a:ext cx="9230000" cy="3600000"/>
          </a:xfrm>
          <a:prstGeom prst="rect">
            <a:avLst/>
          </a:prstGeom>
          <a:noFill/>
        </p:spPr>
        <p:txBody>
          <a:bodyPr vert="horz" wrap="square" lIns="0" tIns="0" rIns="0" bIns="0" rtlCol="0" anchor="t">
            <a:noAutofit/>
          </a:bodyPr>
          <a:lstStyle>
            <a:lvl1pPr marL="0" indent="0" algn="l">
              <a:lnSpc>
                <a:spcPct val="100000"/>
              </a:lnSpc>
              <a:spcBef>
                <a:spcPts val="0"/>
              </a:spcBef>
              <a:spcAft>
                <a:spcPts val="0"/>
              </a:spcAft>
              <a:buNone/>
              <a:defRPr sz="4400" b="0" i="0" spc="0">
                <a:solidFill>
                  <a:srgbClr val="1E2422"/>
                </a:solidFill>
                <a:latin typeface="+mj-lt"/>
                <a:cs typeface="+mj-cs"/>
              </a:defRPr>
            </a:lvl1pPr>
          </a:lstStyle>
          <a:p>
            <a:r>
              <a:rPr lang="en-US"/>
              <a:t>Headline</a:t>
            </a:r>
          </a:p>
        </p:txBody>
      </p:sp>
      <p:sp>
        <p:nvSpPr>
          <p:cNvPr id="3" name="Main"/>
          <p:cNvSpPr>
            <a:spLocks noGrp="1"/>
          </p:cNvSpPr>
          <p:nvPr>
            <p:ph type="body" idx="1" hasCustomPrompt="1"/>
          </p:nvPr>
        </p:nvSpPr>
        <p:spPr>
          <a:xfrm>
            <a:off x="540000" y="4869000"/>
            <a:ext cx="9230000" cy="270000"/>
          </a:xfrm>
          <a:prstGeom prst="rect">
            <a:avLst/>
          </a:prstGeom>
          <a:noFill/>
        </p:spPr>
        <p:txBody>
          <a:bodyPr vert="horz" wrap="square" lIns="0" tIns="0" rIns="0" bIns="0" rtlCol="0" anchor="t">
            <a:noAutofit/>
          </a:bodyPr>
          <a:lstStyle>
            <a:lvl1pPr marL="0" indent="0" algn="l">
              <a:lnSpc>
                <a:spcPct val="100000"/>
              </a:lnSpc>
              <a:spcBef>
                <a:spcPts val="0"/>
              </a:spcBef>
              <a:spcAft>
                <a:spcPts val="0"/>
              </a:spcAft>
              <a:buNone/>
              <a:defRPr sz="1400" b="1" i="0" cap="all" spc="112">
                <a:solidFill>
                  <a:srgbClr val="545A55"/>
                </a:solidFill>
                <a:latin typeface="+mn-lt"/>
                <a:cs typeface="+mn-cs"/>
              </a:defRPr>
            </a:lvl1pPr>
          </a:lstStyle>
          <a:p>
            <a:r>
              <a:rPr lang="en-US"/>
              <a:t>Text</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keyline:close">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40000" y="1269000"/>
            <a:ext cx="9230000" cy="2160000"/>
          </a:xfrm>
          <a:prstGeom prst="rect">
            <a:avLst/>
          </a:prstGeom>
          <a:noFill/>
        </p:spPr>
        <p:txBody>
          <a:bodyPr vert="horz" wrap="square" lIns="0" tIns="0" rIns="0" bIns="88568" rtlCol="0" anchor="b">
            <a:noAutofit/>
          </a:bodyPr>
          <a:lstStyle>
            <a:lvl1pPr marL="0" indent="0" algn="l">
              <a:lnSpc>
                <a:spcPct val="100000"/>
              </a:lnSpc>
              <a:spcBef>
                <a:spcPts val="0"/>
              </a:spcBef>
              <a:spcAft>
                <a:spcPts val="0"/>
              </a:spcAft>
              <a:buNone/>
              <a:defRPr sz="6600" b="1" i="0" spc="0">
                <a:solidFill>
                  <a:srgbClr val="1E2422"/>
                </a:solidFill>
                <a:latin typeface="+mj-lt"/>
                <a:cs typeface="+mj-cs"/>
              </a:defRPr>
            </a:lvl1pPr>
          </a:lstStyle>
          <a:p>
            <a:r>
              <a:rPr lang="en-US"/>
              <a:t>Headline</a:t>
            </a:r>
          </a:p>
        </p:txBody>
      </p:sp>
      <p:sp>
        <p:nvSpPr>
          <p:cNvPr id="3" name="Main"/>
          <p:cNvSpPr>
            <a:spLocks noGrp="1"/>
          </p:cNvSpPr>
          <p:nvPr>
            <p:ph type="body" idx="1" hasCustomPrompt="1"/>
          </p:nvPr>
        </p:nvSpPr>
        <p:spPr>
          <a:xfrm>
            <a:off x="540000" y="3609000"/>
            <a:ext cx="9230000" cy="2070000"/>
          </a:xfrm>
          <a:prstGeom prst="rect">
            <a:avLst/>
          </a:prstGeom>
          <a:noFill/>
        </p:spPr>
        <p:txBody>
          <a:bodyPr vert="horz" wrap="square" lIns="0" tIns="0" rIns="0" bIns="0" rtlCol="0" anchor="t">
            <a:noAutofit/>
          </a:bodyPr>
          <a:lstStyle>
            <a:lvl1pPr marL="0" indent="0" algn="l">
              <a:lnSpc>
                <a:spcPct val="110000"/>
              </a:lnSpc>
              <a:spcBef>
                <a:spcPts val="0"/>
              </a:spcBef>
              <a:spcAft>
                <a:spcPts val="0"/>
              </a:spcAft>
              <a:buNone/>
              <a:defRPr sz="2800" b="0" i="0" spc="0">
                <a:solidFill>
                  <a:srgbClr val="1E2422"/>
                </a:solidFill>
                <a:latin typeface="+mn-lt"/>
                <a:cs typeface="+mn-cs"/>
              </a:defRPr>
            </a:lvl1pPr>
          </a:lstStyle>
          <a:p>
            <a:r>
              <a:rPr lang="en-US"/>
              <a:t>Text</a:t>
            </a:r>
          </a:p>
        </p:txBody>
      </p:sp>
      <p:sp>
        <p:nvSpPr>
          <p:cNvPr id="4" name="Footer"/>
          <p:cNvSpPr>
            <a:spLocks noGrp="1"/>
          </p:cNvSpPr>
          <p:nvPr>
            <p:ph type="body" idx="3" hasCustomPrompt="1"/>
          </p:nvPr>
        </p:nvSpPr>
        <p:spPr>
          <a:xfrm>
            <a:off x="540000" y="5769000"/>
            <a:ext cx="11112000" cy="540000"/>
          </a:xfrm>
          <a:prstGeom prst="rect">
            <a:avLst/>
          </a:prstGeom>
          <a:noFill/>
        </p:spPr>
        <p:txBody>
          <a:bodyPr vert="horz" wrap="square" lIns="0" tIns="0" rIns="0" bIns="0" rtlCol="0" anchor="t">
            <a:noAutofit/>
          </a:bodyPr>
          <a:lstStyle>
            <a:lvl1pPr marL="0" indent="0" algn="l">
              <a:lnSpc>
                <a:spcPct val="100000"/>
              </a:lnSpc>
              <a:spcBef>
                <a:spcPts val="0"/>
              </a:spcBef>
              <a:spcAft>
                <a:spcPts val="0"/>
              </a:spcAft>
              <a:buNone/>
              <a:defRPr sz="1200" b="0" i="0" spc="0">
                <a:solidFill>
                  <a:srgbClr val="545A55"/>
                </a:solidFill>
                <a:latin typeface="+mn-lt"/>
                <a:cs typeface="+mn-cs"/>
              </a:defRPr>
            </a:lvl1pPr>
          </a:lstStyle>
          <a:p>
            <a:r>
              <a:rPr lang="en-US"/>
              <a:t>Source: …</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6E7E3"/>
        </a:solidFill>
        <a:effectLst/>
      </p:bgPr>
    </p:bg>
    <p:spTree>
      <p:nvGrpSpPr>
        <p:cNvPr id="1" name=""/>
        <p:cNvGrpSpPr/>
        <p:nvPr/>
      </p:nvGrpSpPr>
      <p:grpSpPr>
        <a:xfrm>
          <a:off x="0" y="0"/>
          <a:ext cx="0" cy="0"/>
          <a:chOff x="0" y="0"/>
          <a:chExt cx="0" cy="0"/>
        </a:xfrm>
      </p:grpSpPr>
      <p:sp>
        <p:nvSpPr>
          <p:cNvPr id="2" name="Title"/>
          <p:cNvSpPr>
            <a:spLocks noGrp="1"/>
          </p:cNvSpPr>
          <p:nvPr>
            <p:ph type="title"/>
          </p:nvPr>
        </p:nvSpPr>
        <p:spPr>
          <a:xfrm>
            <a:off x="540000" y="549000"/>
            <a:ext cx="11112000" cy="1530000"/>
          </a:xfrm>
          <a:prstGeom prst="rect">
            <a:avLst/>
          </a:prstGeom>
          <a:noFill/>
        </p:spPr>
        <p:txBody>
          <a:bodyPr vert="horz" wrap="square" lIns="0" tIns="0" rIns="0" bIns="0" rtlCol="0" anchor="t">
            <a:noAutofit/>
          </a:bodyPr>
          <a:lstStyle>
            <a:lvl1pPr marL="0" indent="0" algn="l">
              <a:lnSpc>
                <a:spcPct val="100000"/>
              </a:lnSpc>
              <a:spcBef>
                <a:spcPts val="0"/>
              </a:spcBef>
              <a:spcAft>
                <a:spcPts val="0"/>
              </a:spcAft>
              <a:buNone/>
              <a:defRPr sz="4800" b="1" i="0" spc="0">
                <a:solidFill>
                  <a:srgbClr val="1E2422"/>
                </a:solidFill>
                <a:latin typeface="+mj-lt"/>
                <a:cs typeface="+mj-cs"/>
              </a:defRPr>
            </a:lvl1pPr>
          </a:lstStyle>
          <a:p>
            <a:r>
              <a:rPr lang="en-US"/>
              <a:t>Headline</a:t>
            </a:r>
          </a:p>
        </p:txBody>
      </p:sp>
      <p:sp>
        <p:nvSpPr>
          <p:cNvPr id="3" name="Main"/>
          <p:cNvSpPr>
            <a:spLocks noGrp="1"/>
          </p:cNvSpPr>
          <p:nvPr>
            <p:ph type="body" idx="1"/>
          </p:nvPr>
        </p:nvSpPr>
        <p:spPr>
          <a:xfrm>
            <a:off x="540000" y="2349000"/>
            <a:ext cx="11112000" cy="3330000"/>
          </a:xfrm>
          <a:prstGeom prst="rect">
            <a:avLst/>
          </a:prstGeom>
          <a:noFill/>
        </p:spPr>
        <p:txBody>
          <a:bodyPr vert="horz" wrap="square" lIns="0" tIns="0" rIns="0" bIns="0" rtlCol="0" anchor="t">
            <a:noAutofit/>
          </a:bodyPr>
          <a:lstStyle>
            <a:lvl1pPr marL="0" indent="0" algn="l">
              <a:lnSpc>
                <a:spcPct val="110000"/>
              </a:lnSpc>
              <a:spcBef>
                <a:spcPts val="0"/>
              </a:spcBef>
              <a:spcAft>
                <a:spcPts val="600"/>
              </a:spcAft>
              <a:buNone/>
              <a:defRPr sz="2400" b="0" i="0" spc="0">
                <a:solidFill>
                  <a:srgbClr val="1E2422"/>
                </a:solidFill>
                <a:latin typeface="+mn-lt"/>
                <a:cs typeface="+mn-cs"/>
              </a:defRPr>
            </a:lvl1pPr>
          </a:lstStyle>
          <a:p>
            <a:r>
              <a:rPr lang="en-US"/>
              <a:t>Text</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marL="0" indent="0" algn="l">
        <a:lnSpc>
          <a:spcPct val="100000"/>
        </a:lnSpc>
        <a:spcBef>
          <a:spcPts val="0"/>
        </a:spcBef>
        <a:spcAft>
          <a:spcPts val="0"/>
        </a:spcAft>
        <a:buNone/>
        <a:defRPr sz="4800" b="1" i="0" spc="0">
          <a:solidFill>
            <a:srgbClr val="1E2422"/>
          </a:solidFill>
          <a:latin typeface="+mj-lt"/>
          <a:cs typeface="+mj-cs"/>
        </a:defRPr>
      </a:lvl1pPr>
      <a:lvl2pPr marL="0" indent="0" algn="l">
        <a:lnSpc>
          <a:spcPct val="100000"/>
        </a:lnSpc>
        <a:spcBef>
          <a:spcPts val="0"/>
        </a:spcBef>
        <a:spcAft>
          <a:spcPts val="0"/>
        </a:spcAft>
        <a:buNone/>
        <a:defRPr sz="4800" b="1" i="0" spc="0">
          <a:solidFill>
            <a:srgbClr val="1E2422"/>
          </a:solidFill>
          <a:latin typeface="+mj-lt"/>
          <a:cs typeface="+mj-cs"/>
        </a:defRPr>
      </a:lvl2pPr>
      <a:lvl3pPr marL="0" indent="0" algn="l">
        <a:lnSpc>
          <a:spcPct val="100000"/>
        </a:lnSpc>
        <a:spcBef>
          <a:spcPts val="0"/>
        </a:spcBef>
        <a:spcAft>
          <a:spcPts val="0"/>
        </a:spcAft>
        <a:buNone/>
        <a:defRPr sz="4800" b="1" i="0" spc="0">
          <a:solidFill>
            <a:srgbClr val="1E2422"/>
          </a:solidFill>
          <a:latin typeface="+mj-lt"/>
          <a:cs typeface="+mj-cs"/>
        </a:defRPr>
      </a:lvl3pPr>
      <a:lvl4pPr marL="0" indent="0" algn="l">
        <a:lnSpc>
          <a:spcPct val="100000"/>
        </a:lnSpc>
        <a:spcBef>
          <a:spcPts val="0"/>
        </a:spcBef>
        <a:spcAft>
          <a:spcPts val="0"/>
        </a:spcAft>
        <a:buNone/>
        <a:defRPr sz="4800" b="1" i="0" spc="0">
          <a:solidFill>
            <a:srgbClr val="1E2422"/>
          </a:solidFill>
          <a:latin typeface="+mj-lt"/>
          <a:cs typeface="+mj-cs"/>
        </a:defRPr>
      </a:lvl4pPr>
      <a:lvl5pPr marL="0" indent="0" algn="l">
        <a:lnSpc>
          <a:spcPct val="100000"/>
        </a:lnSpc>
        <a:spcBef>
          <a:spcPts val="0"/>
        </a:spcBef>
        <a:spcAft>
          <a:spcPts val="0"/>
        </a:spcAft>
        <a:buNone/>
        <a:defRPr sz="4800" b="1" i="0" spc="0">
          <a:solidFill>
            <a:srgbClr val="1E2422"/>
          </a:solidFill>
          <a:latin typeface="+mj-lt"/>
          <a:cs typeface="+mj-cs"/>
        </a:defRPr>
      </a:lvl5pPr>
      <a:lvl6pPr marL="0" indent="0" algn="l">
        <a:lnSpc>
          <a:spcPct val="100000"/>
        </a:lnSpc>
        <a:spcBef>
          <a:spcPts val="0"/>
        </a:spcBef>
        <a:spcAft>
          <a:spcPts val="0"/>
        </a:spcAft>
        <a:buNone/>
        <a:defRPr sz="4800" b="1" i="0" spc="0">
          <a:solidFill>
            <a:srgbClr val="1E2422"/>
          </a:solidFill>
          <a:latin typeface="+mj-lt"/>
          <a:cs typeface="+mj-cs"/>
        </a:defRPr>
      </a:lvl6pPr>
      <a:lvl7pPr marL="0" indent="0" algn="l">
        <a:lnSpc>
          <a:spcPct val="100000"/>
        </a:lnSpc>
        <a:spcBef>
          <a:spcPts val="0"/>
        </a:spcBef>
        <a:spcAft>
          <a:spcPts val="0"/>
        </a:spcAft>
        <a:buNone/>
        <a:defRPr sz="4800" b="1" i="0" spc="0">
          <a:solidFill>
            <a:srgbClr val="1E2422"/>
          </a:solidFill>
          <a:latin typeface="+mj-lt"/>
          <a:cs typeface="+mj-cs"/>
        </a:defRPr>
      </a:lvl7pPr>
      <a:lvl8pPr marL="0" indent="0" algn="l">
        <a:lnSpc>
          <a:spcPct val="100000"/>
        </a:lnSpc>
        <a:spcBef>
          <a:spcPts val="0"/>
        </a:spcBef>
        <a:spcAft>
          <a:spcPts val="0"/>
        </a:spcAft>
        <a:buNone/>
        <a:defRPr sz="4800" b="1" i="0" spc="0">
          <a:solidFill>
            <a:srgbClr val="1E2422"/>
          </a:solidFill>
          <a:latin typeface="+mj-lt"/>
          <a:cs typeface="+mj-cs"/>
        </a:defRPr>
      </a:lvl8pPr>
      <a:lvl9pPr marL="0" indent="0" algn="l">
        <a:lnSpc>
          <a:spcPct val="100000"/>
        </a:lnSpc>
        <a:spcBef>
          <a:spcPts val="0"/>
        </a:spcBef>
        <a:spcAft>
          <a:spcPts val="0"/>
        </a:spcAft>
        <a:buNone/>
        <a:defRPr sz="4800" b="1" i="0" spc="0">
          <a:solidFill>
            <a:srgbClr val="1E2422"/>
          </a:solidFill>
          <a:latin typeface="+mj-lt"/>
          <a:cs typeface="+mj-cs"/>
        </a:defRPr>
      </a:lvl9pPr>
    </p:titleStyle>
    <p:bodyStyle>
      <a:lvl1pPr marL="0" indent="0" algn="l">
        <a:lnSpc>
          <a:spcPct val="110000"/>
        </a:lnSpc>
        <a:spcBef>
          <a:spcPts val="0"/>
        </a:spcBef>
        <a:spcAft>
          <a:spcPts val="600"/>
        </a:spcAft>
        <a:buNone/>
        <a:defRPr sz="2400" b="0" i="0" spc="0">
          <a:solidFill>
            <a:srgbClr val="1E2422"/>
          </a:solidFill>
          <a:latin typeface="+mn-lt"/>
          <a:cs typeface="+mn-cs"/>
        </a:defRPr>
      </a:lvl1pPr>
      <a:lvl2pPr marL="0" indent="0" algn="l">
        <a:lnSpc>
          <a:spcPct val="110000"/>
        </a:lnSpc>
        <a:spcBef>
          <a:spcPts val="0"/>
        </a:spcBef>
        <a:spcAft>
          <a:spcPts val="600"/>
        </a:spcAft>
        <a:buNone/>
        <a:defRPr sz="2400" b="0" i="0" spc="0">
          <a:solidFill>
            <a:srgbClr val="1E2422"/>
          </a:solidFill>
          <a:latin typeface="+mn-lt"/>
          <a:cs typeface="+mn-cs"/>
        </a:defRPr>
      </a:lvl2pPr>
      <a:lvl3pPr marL="0" indent="0" algn="l">
        <a:lnSpc>
          <a:spcPct val="110000"/>
        </a:lnSpc>
        <a:spcBef>
          <a:spcPts val="0"/>
        </a:spcBef>
        <a:spcAft>
          <a:spcPts val="600"/>
        </a:spcAft>
        <a:buNone/>
        <a:defRPr sz="2400" b="0" i="0" spc="0">
          <a:solidFill>
            <a:srgbClr val="1E2422"/>
          </a:solidFill>
          <a:latin typeface="+mn-lt"/>
          <a:cs typeface="+mn-cs"/>
        </a:defRPr>
      </a:lvl3pPr>
      <a:lvl4pPr marL="0" indent="0" algn="l">
        <a:lnSpc>
          <a:spcPct val="110000"/>
        </a:lnSpc>
        <a:spcBef>
          <a:spcPts val="0"/>
        </a:spcBef>
        <a:spcAft>
          <a:spcPts val="600"/>
        </a:spcAft>
        <a:buNone/>
        <a:defRPr sz="2400" b="0" i="0" spc="0">
          <a:solidFill>
            <a:srgbClr val="1E2422"/>
          </a:solidFill>
          <a:latin typeface="+mn-lt"/>
          <a:cs typeface="+mn-cs"/>
        </a:defRPr>
      </a:lvl4pPr>
      <a:lvl5pPr marL="0" indent="0" algn="l">
        <a:lnSpc>
          <a:spcPct val="110000"/>
        </a:lnSpc>
        <a:spcBef>
          <a:spcPts val="0"/>
        </a:spcBef>
        <a:spcAft>
          <a:spcPts val="600"/>
        </a:spcAft>
        <a:buNone/>
        <a:defRPr sz="2400" b="0" i="0" spc="0">
          <a:solidFill>
            <a:srgbClr val="1E2422"/>
          </a:solidFill>
          <a:latin typeface="+mn-lt"/>
          <a:cs typeface="+mn-cs"/>
        </a:defRPr>
      </a:lvl5pPr>
      <a:lvl6pPr marL="0" indent="0" algn="l">
        <a:lnSpc>
          <a:spcPct val="110000"/>
        </a:lnSpc>
        <a:spcBef>
          <a:spcPts val="0"/>
        </a:spcBef>
        <a:spcAft>
          <a:spcPts val="600"/>
        </a:spcAft>
        <a:buNone/>
        <a:defRPr sz="2400" b="0" i="0" spc="0">
          <a:solidFill>
            <a:srgbClr val="1E2422"/>
          </a:solidFill>
          <a:latin typeface="+mn-lt"/>
          <a:cs typeface="+mn-cs"/>
        </a:defRPr>
      </a:lvl6pPr>
      <a:lvl7pPr marL="0" indent="0" algn="l">
        <a:lnSpc>
          <a:spcPct val="110000"/>
        </a:lnSpc>
        <a:spcBef>
          <a:spcPts val="0"/>
        </a:spcBef>
        <a:spcAft>
          <a:spcPts val="600"/>
        </a:spcAft>
        <a:buNone/>
        <a:defRPr sz="2400" b="0" i="0" spc="0">
          <a:solidFill>
            <a:srgbClr val="1E2422"/>
          </a:solidFill>
          <a:latin typeface="+mn-lt"/>
          <a:cs typeface="+mn-cs"/>
        </a:defRPr>
      </a:lvl7pPr>
      <a:lvl8pPr marL="0" indent="0" algn="l">
        <a:lnSpc>
          <a:spcPct val="110000"/>
        </a:lnSpc>
        <a:spcBef>
          <a:spcPts val="0"/>
        </a:spcBef>
        <a:spcAft>
          <a:spcPts val="600"/>
        </a:spcAft>
        <a:buNone/>
        <a:defRPr sz="2400" b="0" i="0" spc="0">
          <a:solidFill>
            <a:srgbClr val="1E2422"/>
          </a:solidFill>
          <a:latin typeface="+mn-lt"/>
          <a:cs typeface="+mn-cs"/>
        </a:defRPr>
      </a:lvl8pPr>
      <a:lvl9pPr marL="0" indent="0" algn="l">
        <a:lnSpc>
          <a:spcPct val="110000"/>
        </a:lnSpc>
        <a:spcBef>
          <a:spcPts val="0"/>
        </a:spcBef>
        <a:spcAft>
          <a:spcPts val="600"/>
        </a:spcAft>
        <a:buNone/>
        <a:defRPr sz="2400" b="0" i="0" spc="0">
          <a:solidFill>
            <a:srgbClr val="1E2422"/>
          </a:solidFill>
          <a:latin typeface="+mn-lt"/>
          <a:cs typeface="+mn-cs"/>
        </a:defRPr>
      </a:lvl9pPr>
    </p:bodyStyle>
    <p:otherStyle>
      <a:lvl1pPr marL="0" indent="0" algn="l">
        <a:lnSpc>
          <a:spcPct val="110000"/>
        </a:lnSpc>
        <a:spcBef>
          <a:spcPts val="0"/>
        </a:spcBef>
        <a:spcAft>
          <a:spcPts val="600"/>
        </a:spcAft>
        <a:buNone/>
        <a:defRPr sz="2400" b="0" i="0" spc="0">
          <a:solidFill>
            <a:srgbClr val="1E2422"/>
          </a:solidFill>
          <a:latin typeface="+mn-lt"/>
          <a:cs typeface="+mn-cs"/>
        </a:defRPr>
      </a:lvl1pPr>
      <a:lvl2pPr marL="0" indent="0" algn="l">
        <a:lnSpc>
          <a:spcPct val="110000"/>
        </a:lnSpc>
        <a:spcBef>
          <a:spcPts val="0"/>
        </a:spcBef>
        <a:spcAft>
          <a:spcPts val="600"/>
        </a:spcAft>
        <a:buNone/>
        <a:defRPr sz="2400" b="0" i="0" spc="0">
          <a:solidFill>
            <a:srgbClr val="1E2422"/>
          </a:solidFill>
          <a:latin typeface="+mn-lt"/>
          <a:cs typeface="+mn-cs"/>
        </a:defRPr>
      </a:lvl2pPr>
      <a:lvl3pPr marL="0" indent="0" algn="l">
        <a:lnSpc>
          <a:spcPct val="110000"/>
        </a:lnSpc>
        <a:spcBef>
          <a:spcPts val="0"/>
        </a:spcBef>
        <a:spcAft>
          <a:spcPts val="600"/>
        </a:spcAft>
        <a:buNone/>
        <a:defRPr sz="2400" b="0" i="0" spc="0">
          <a:solidFill>
            <a:srgbClr val="1E2422"/>
          </a:solidFill>
          <a:latin typeface="+mn-lt"/>
          <a:cs typeface="+mn-cs"/>
        </a:defRPr>
      </a:lvl3pPr>
      <a:lvl4pPr marL="0" indent="0" algn="l">
        <a:lnSpc>
          <a:spcPct val="110000"/>
        </a:lnSpc>
        <a:spcBef>
          <a:spcPts val="0"/>
        </a:spcBef>
        <a:spcAft>
          <a:spcPts val="600"/>
        </a:spcAft>
        <a:buNone/>
        <a:defRPr sz="2400" b="0" i="0" spc="0">
          <a:solidFill>
            <a:srgbClr val="1E2422"/>
          </a:solidFill>
          <a:latin typeface="+mn-lt"/>
          <a:cs typeface="+mn-cs"/>
        </a:defRPr>
      </a:lvl4pPr>
      <a:lvl5pPr marL="0" indent="0" algn="l">
        <a:lnSpc>
          <a:spcPct val="110000"/>
        </a:lnSpc>
        <a:spcBef>
          <a:spcPts val="0"/>
        </a:spcBef>
        <a:spcAft>
          <a:spcPts val="600"/>
        </a:spcAft>
        <a:buNone/>
        <a:defRPr sz="2400" b="0" i="0" spc="0">
          <a:solidFill>
            <a:srgbClr val="1E2422"/>
          </a:solidFill>
          <a:latin typeface="+mn-lt"/>
          <a:cs typeface="+mn-cs"/>
        </a:defRPr>
      </a:lvl5pPr>
      <a:lvl6pPr marL="0" indent="0" algn="l">
        <a:lnSpc>
          <a:spcPct val="110000"/>
        </a:lnSpc>
        <a:spcBef>
          <a:spcPts val="0"/>
        </a:spcBef>
        <a:spcAft>
          <a:spcPts val="600"/>
        </a:spcAft>
        <a:buNone/>
        <a:defRPr sz="2400" b="0" i="0" spc="0">
          <a:solidFill>
            <a:srgbClr val="1E2422"/>
          </a:solidFill>
          <a:latin typeface="+mn-lt"/>
          <a:cs typeface="+mn-cs"/>
        </a:defRPr>
      </a:lvl6pPr>
      <a:lvl7pPr marL="0" indent="0" algn="l">
        <a:lnSpc>
          <a:spcPct val="110000"/>
        </a:lnSpc>
        <a:spcBef>
          <a:spcPts val="0"/>
        </a:spcBef>
        <a:spcAft>
          <a:spcPts val="600"/>
        </a:spcAft>
        <a:buNone/>
        <a:defRPr sz="2400" b="0" i="0" spc="0">
          <a:solidFill>
            <a:srgbClr val="1E2422"/>
          </a:solidFill>
          <a:latin typeface="+mn-lt"/>
          <a:cs typeface="+mn-cs"/>
        </a:defRPr>
      </a:lvl7pPr>
      <a:lvl8pPr marL="0" indent="0" algn="l">
        <a:lnSpc>
          <a:spcPct val="110000"/>
        </a:lnSpc>
        <a:spcBef>
          <a:spcPts val="0"/>
        </a:spcBef>
        <a:spcAft>
          <a:spcPts val="600"/>
        </a:spcAft>
        <a:buNone/>
        <a:defRPr sz="2400" b="0" i="0" spc="0">
          <a:solidFill>
            <a:srgbClr val="1E2422"/>
          </a:solidFill>
          <a:latin typeface="+mn-lt"/>
          <a:cs typeface="+mn-cs"/>
        </a:defRPr>
      </a:lvl8pPr>
      <a:lvl9pPr marL="0" indent="0" algn="l">
        <a:lnSpc>
          <a:spcPct val="110000"/>
        </a:lnSpc>
        <a:spcBef>
          <a:spcPts val="0"/>
        </a:spcBef>
        <a:spcAft>
          <a:spcPts val="600"/>
        </a:spcAft>
        <a:buNone/>
        <a:defRPr sz="2400" b="0" i="0" spc="0">
          <a:solidFill>
            <a:srgbClr val="1E2422"/>
          </a:solidFill>
          <a:latin typeface="+mn-lt"/>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p:txBody>
          <a:bodyPr lIns="0" tIns="0" rIns="0" bIns="88568" wrap="square" anchor="b">
            <a:noAutofit/>
          </a:bodyPr>
          <a:lstStyle/>
          <a:p>
            <a:pPr marL="0" algn="l" indent="0">
              <a:lnSpc>
                <a:spcPct val="100000"/>
              </a:lnSpc>
              <a:spcBef>
                <a:spcPts val="0"/>
              </a:spcBef>
              <a:spcAft>
                <a:spcPts val="0"/>
              </a:spcAft>
              <a:buNone/>
            </a:pPr>
            <a:r>
              <a:rPr lang="en-US" sz="6600" b="1" i="0" spc="0">
                <a:solidFill>
                  <a:srgbClr val="1E2422"/>
                </a:solidFill>
                <a:latin typeface="+mj-lt"/>
                <a:cs typeface="+mj-cs"/>
              </a:rPr>
              <a:t>BonsaiHub</a:t>
            </a:r>
          </a:p>
        </p:txBody>
      </p:sp>
      <p:sp>
        <p:nvSpPr>
          <p:cNvPr id="3" name="main"/>
          <p:cNvSpPr>
            <a:spLocks noGrp="1"/>
          </p:cNvSpPr>
          <p:nvPr>
            <p:ph type="body" idx="1"/>
          </p:nvPr>
        </p:nvSpPr>
        <p:spPr/>
        <p:txBody>
          <a:bodyPr lIns="0" tIns="0" rIns="0" bIns="0" wrap="square" anchor="t">
            <a:noAutofit/>
          </a:bodyPr>
          <a:lstStyle/>
          <a:p>
            <a:pPr marL="0" algn="l" indent="0">
              <a:lnSpc>
                <a:spcPct val="110000"/>
              </a:lnSpc>
              <a:spcBef>
                <a:spcPts val="0"/>
              </a:spcBef>
              <a:spcAft>
                <a:spcPts val="0"/>
              </a:spcAft>
              <a:buNone/>
            </a:pPr>
            <a:r>
              <a:rPr lang="en-US" sz="2800" b="0" i="0" spc="0">
                <a:solidFill>
                  <a:srgbClr val="1E2422"/>
                </a:solidFill>
                <a:latin typeface="+mn-lt"/>
                <a:cs typeface="+mn-cs"/>
              </a:rPr>
              <a:t>A dating app for bonsai trees and the people patient enough to keep them. Every match starts with a visit.</a:t>
            </a:r>
          </a:p>
        </p:txBody>
      </p:sp>
      <p:sp>
        <p:nvSpPr>
          <p:cNvPr id="4" name="footer"/>
          <p:cNvSpPr>
            <a:spLocks noGrp="1"/>
          </p:cNvSpPr>
          <p:nvPr>
            <p:ph type="body" idx="3"/>
          </p:nvPr>
        </p:nvSpPr>
        <p:spPr/>
        <p:txBody>
          <a:bodyPr lIns="0" tIns="0" rIns="0" bIns="0" wrap="square" anchor="t">
            <a:noAutofit/>
          </a:bodyPr>
          <a:lstStyle/>
          <a:p>
            <a:pPr marL="0" algn="l" indent="0">
              <a:lnSpc>
                <a:spcPct val="100000"/>
              </a:lnSpc>
              <a:spcBef>
                <a:spcPts val="0"/>
              </a:spcBef>
              <a:spcAft>
                <a:spcPts val="0"/>
              </a:spcAft>
              <a:buNone/>
            </a:pPr>
            <a:r>
              <a:rPr lang="en-US" sz="1200" b="0" i="0" spc="0">
                <a:solidFill>
                  <a:srgbClr val="545A55"/>
                </a:solidFill>
                <a:latin typeface="+mn-lt"/>
                <a:cs typeface="+mn-cs"/>
              </a:rPr>
              <a:t>Note: BonsaiHub is a parody. Its trees and every number in this deck are fictional.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p:txBody>
          <a:bodyPr lIns="0" tIns="0" rIns="0" bIns="0" wrap="square" anchor="t">
            <a:noAutofit/>
          </a:bodyPr>
          <a:lstStyle/>
          <a:p>
            <a:pPr marL="0" algn="l" indent="0">
              <a:lnSpc>
                <a:spcPct val="100000"/>
              </a:lnSpc>
              <a:spcBef>
                <a:spcPts val="0"/>
              </a:spcBef>
              <a:spcAft>
                <a:spcPts val="0"/>
              </a:spcAft>
              <a:buNone/>
            </a:pPr>
            <a:r>
              <a:rPr lang="en-US" sz="6000" b="1" i="0" spc="0">
                <a:solidFill>
                  <a:srgbClr val="1E2422"/>
                </a:solidFill>
                <a:latin typeface="+mj-lt"/>
                <a:cs typeface="+mj-cs"/>
              </a:rPr>
              <a:t>A bonsai outlives the impulse that buys it</a:t>
            </a:r>
          </a:p>
        </p:txBody>
      </p:sp>
      <p:sp>
        <p:nvSpPr>
          <p:cNvPr id="4" name="footer"/>
          <p:cNvSpPr>
            <a:spLocks noGrp="1"/>
          </p:cNvSpPr>
          <p:nvPr>
            <p:ph type="body" idx="3"/>
          </p:nvPr>
        </p:nvSpPr>
        <p:spPr/>
        <p:txBody>
          <a:bodyPr lIns="0" tIns="0" rIns="0" bIns="0" wrap="square" anchor="t">
            <a:noAutofit/>
          </a:bodyPr>
          <a:lstStyle/>
          <a:p>
            <a:pPr marL="0" algn="l" indent="0">
              <a:lnSpc>
                <a:spcPct val="100000"/>
              </a:lnSpc>
              <a:spcBef>
                <a:spcPts val="0"/>
              </a:spcBef>
              <a:spcAft>
                <a:spcPts val="0"/>
              </a:spcAft>
              <a:buNone/>
            </a:pPr>
            <a:r>
              <a:rPr lang="en-US" sz="1200" b="0" i="0" spc="0">
                <a:solidFill>
                  <a:srgbClr val="545A55"/>
                </a:solidFill>
                <a:latin typeface="+mn-lt"/>
                <a:cs typeface="+mn-cs"/>
              </a:rPr>
              <a:t>Source: BonsaiHub listings, September 2026 (fictional)</a:t>
            </a:r>
          </a:p>
        </p:txBody>
      </p:sp>
      <p:sp>
        <p:nvSpPr>
          <p:cNvPr id="5" name="main-numeral"/>
          <p:cNvSpPr txBox="1"/>
          <p:nvPr/>
        </p:nvSpPr>
        <p:spPr>
          <a:xfrm>
            <a:off x="540000" y="3609000"/>
            <a:ext cx="9230000" cy="1829160"/>
          </a:xfrm>
          <a:prstGeom prst="rect">
            <a:avLst/>
          </a:prstGeom>
          <a:noFill/>
        </p:spPr>
        <p:txBody>
          <a:bodyPr wrap="square" lIns="0" tIns="0" rIns="0" bIns="0" anchor="t">
            <a:noAutofit/>
          </a:bodyPr>
          <a:lstStyle/>
          <a:p>
            <a:pPr marL="0" algn="l" indent="0">
              <a:lnSpc>
                <a:spcPct val="100000"/>
              </a:lnSpc>
              <a:spcBef>
                <a:spcPts val="0"/>
              </a:spcBef>
              <a:spcAft>
                <a:spcPts val="0"/>
              </a:spcAft>
              <a:buNone/>
            </a:pPr>
            <a:r>
              <a:rPr lang="en-US" sz="12000" b="1" i="0" spc="0">
                <a:solidFill>
                  <a:srgbClr val="1E2422"/>
                </a:solidFill>
                <a:latin typeface="+mj-lt"/>
                <a:cs typeface="+mj-cs"/>
              </a:rPr>
              <a:t>38 years</a:t>
            </a:r>
          </a:p>
        </p:txBody>
      </p:sp>
      <p:sp>
        <p:nvSpPr>
          <p:cNvPr id="6" name="main-label"/>
          <p:cNvSpPr txBox="1"/>
          <p:nvPr/>
        </p:nvSpPr>
        <p:spPr>
          <a:xfrm>
            <a:off x="540000" y="5438160"/>
            <a:ext cx="9230000" cy="240840"/>
          </a:xfrm>
          <a:prstGeom prst="rect">
            <a:avLst/>
          </a:prstGeom>
          <a:noFill/>
        </p:spPr>
        <p:txBody>
          <a:bodyPr wrap="square" lIns="0" tIns="0" rIns="0" bIns="0" anchor="t">
            <a:noAutofit/>
          </a:bodyPr>
          <a:lstStyle/>
          <a:p>
            <a:pPr marL="0" algn="l" indent="0">
              <a:lnSpc>
                <a:spcPct val="100000"/>
              </a:lnSpc>
              <a:spcBef>
                <a:spcPts val="0"/>
              </a:spcBef>
              <a:spcAft>
                <a:spcPts val="0"/>
              </a:spcAft>
              <a:buNone/>
            </a:pPr>
            <a:r>
              <a:rPr lang="en-US" sz="1400" b="1" i="0" spc="112" cap="all">
                <a:solidFill>
                  <a:srgbClr val="545A55"/>
                </a:solidFill>
                <a:latin typeface="+mn-lt"/>
                <a:cs typeface="+mn-cs"/>
              </a:rPr>
              <a:t>median tree 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p:txBody>
          <a:bodyPr lIns="0" tIns="0" rIns="0" bIns="64413" wrap="square" anchor="b">
            <a:noAutofit/>
          </a:bodyPr>
          <a:lstStyle/>
          <a:p>
            <a:pPr marL="0" algn="l" indent="0">
              <a:lnSpc>
                <a:spcPct val="100000"/>
              </a:lnSpc>
              <a:spcBef>
                <a:spcPts val="0"/>
              </a:spcBef>
              <a:spcAft>
                <a:spcPts val="0"/>
              </a:spcAft>
              <a:buNone/>
            </a:pPr>
            <a:r>
              <a:rPr lang="en-US" sz="4800" b="1" i="0" spc="0">
                <a:solidFill>
                  <a:srgbClr val="1E2422"/>
                </a:solidFill>
                <a:latin typeface="+mj-lt"/>
                <a:cs typeface="+mj-cs"/>
              </a:rPr>
              <a:t>Swipe right on a 212-year-old juniper</a:t>
            </a:r>
          </a:p>
        </p:txBody>
      </p:sp>
      <p:sp>
        <p:nvSpPr>
          <p:cNvPr id="4" name="side"/>
          <p:cNvSpPr>
            <a:spLocks noGrp="1"/>
          </p:cNvSpPr>
          <p:nvPr>
            <p:ph type="body" idx="2"/>
          </p:nvPr>
        </p:nvSpPr>
        <p:spPr/>
        <p:txBody>
          <a:bodyPr lIns="0" tIns="0" rIns="0" bIns="0" wrap="square" anchor="t">
            <a:noAutofit/>
          </a:bodyPr>
          <a:lstStyle/>
          <a:p>
            <a:pPr marL="0" algn="l" indent="0">
              <a:lnSpc>
                <a:spcPct val="110000"/>
              </a:lnSpc>
              <a:spcBef>
                <a:spcPts val="0"/>
              </a:spcBef>
              <a:spcAft>
                <a:spcPts val="600"/>
              </a:spcAft>
              <a:buNone/>
            </a:pPr>
            <a:r>
              <a:rPr lang="en-US" sz="2400" b="0" i="0" spc="0">
                <a:solidFill>
                  <a:srgbClr val="1E2422"/>
                </a:solidFill>
                <a:latin typeface="+mn-lt"/>
                <a:cs typeface="+mn-cs"/>
              </a:rPr>
              <a:t>Shimpaku juniper, collected from the wild.</a:t>
            </a:r>
          </a:p>
          <a:p>
            <a:pPr marL="0" algn="l" indent="0">
              <a:lnSpc>
                <a:spcPct val="110000"/>
              </a:lnSpc>
              <a:spcBef>
                <a:spcPts val="0"/>
              </a:spcBef>
              <a:spcAft>
                <a:spcPts val="600"/>
              </a:spcAft>
              <a:buNone/>
            </a:pPr>
            <a:r>
              <a:rPr lang="en-US" sz="2400" b="0" i="0" spc="0">
                <a:solidFill>
                  <a:srgbClr val="1E2422"/>
                </a:solidFill>
                <a:latin typeface="+mn-lt"/>
                <a:cs typeface="+mn-cs"/>
              </a:rPr>
              <a:t>Looking for: someone who stays for decades.</a:t>
            </a:r>
          </a:p>
          <a:p>
            <a:pPr marL="0" algn="l" indent="0">
              <a:lnSpc>
                <a:spcPct val="110000"/>
              </a:lnSpc>
              <a:spcBef>
                <a:spcPts val="0"/>
              </a:spcBef>
              <a:spcAft>
                <a:spcPts val="600"/>
              </a:spcAft>
              <a:buNone/>
            </a:pPr>
            <a:r>
              <a:rPr lang="en-US" sz="2400" b="0" i="0" spc="0">
                <a:solidFill>
                  <a:srgbClr val="1E2422"/>
                </a:solidFill>
                <a:latin typeface="+mn-lt"/>
                <a:cs typeface="+mn-cs"/>
              </a:rPr>
              <a:t>Dealbreakers: overwatering, wire left on past August.</a:t>
            </a:r>
          </a:p>
        </p:txBody>
      </p:sp>
      <p:sp>
        <p:nvSpPr>
          <p:cNvPr id="5" name="footer"/>
          <p:cNvSpPr>
            <a:spLocks noGrp="1"/>
          </p:cNvSpPr>
          <p:nvPr>
            <p:ph type="body" idx="3"/>
          </p:nvPr>
        </p:nvSpPr>
        <p:spPr/>
        <p:txBody>
          <a:bodyPr lIns="0" tIns="0" rIns="0" bIns="0" wrap="square" anchor="t">
            <a:noAutofit/>
          </a:bodyPr>
          <a:lstStyle/>
          <a:p>
            <a:pPr marL="0" algn="l" indent="0">
              <a:lnSpc>
                <a:spcPct val="100000"/>
              </a:lnSpc>
              <a:spcBef>
                <a:spcPts val="0"/>
              </a:spcBef>
              <a:spcAft>
                <a:spcPts val="0"/>
              </a:spcAft>
              <a:buNone/>
            </a:pPr>
            <a:r>
              <a:rPr lang="en-US" sz="1200" b="0" i="0" spc="0">
                <a:solidFill>
                  <a:srgbClr val="545A55"/>
                </a:solidFill>
                <a:latin typeface="+mn-lt"/>
                <a:cs typeface="+mn-cs"/>
              </a:rPr>
              <a:t>Source: BonsaiHub listings, September 2026 (fictional)</a:t>
            </a:r>
          </a:p>
        </p:txBody>
      </p:sp>
      <p:sp>
        <p:nvSpPr>
          <p:cNvPr id="6" name="keyline"/>
          <p:cNvSpPr/>
          <p:nvPr/>
        </p:nvSpPr>
        <p:spPr>
          <a:xfrm>
            <a:off x="540000" y="2169000"/>
            <a:ext cx="11112000" cy="43200"/>
          </a:xfrm>
          <a:prstGeom prst="rect">
            <a:avLst/>
          </a:prstGeom>
          <a:solidFill>
            <a:srgbClr val="1E2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main-numeral"/>
          <p:cNvSpPr txBox="1"/>
          <p:nvPr/>
        </p:nvSpPr>
        <p:spPr>
          <a:xfrm>
            <a:off x="540000" y="2349000"/>
            <a:ext cx="7348000" cy="1829160"/>
          </a:xfrm>
          <a:prstGeom prst="rect">
            <a:avLst/>
          </a:prstGeom>
          <a:noFill/>
        </p:spPr>
        <p:txBody>
          <a:bodyPr wrap="square" lIns="0" tIns="0" rIns="0" bIns="0" anchor="t">
            <a:noAutofit/>
          </a:bodyPr>
          <a:lstStyle/>
          <a:p>
            <a:pPr marL="0" algn="l" indent="0">
              <a:lnSpc>
                <a:spcPct val="100000"/>
              </a:lnSpc>
              <a:spcBef>
                <a:spcPts val="0"/>
              </a:spcBef>
              <a:spcAft>
                <a:spcPts val="0"/>
              </a:spcAft>
              <a:buNone/>
            </a:pPr>
            <a:r>
              <a:rPr lang="en-US" sz="12000" b="1" i="0" spc="0">
                <a:solidFill>
                  <a:srgbClr val="1E2422"/>
                </a:solidFill>
                <a:latin typeface="+mj-lt"/>
                <a:cs typeface="+mj-cs"/>
              </a:rPr>
              <a:t>212 years</a:t>
            </a:r>
          </a:p>
        </p:txBody>
      </p:sp>
      <p:sp>
        <p:nvSpPr>
          <p:cNvPr id="8" name="main-label"/>
          <p:cNvSpPr txBox="1"/>
          <p:nvPr/>
        </p:nvSpPr>
        <p:spPr>
          <a:xfrm>
            <a:off x="540000" y="4178160"/>
            <a:ext cx="7348000" cy="1500840"/>
          </a:xfrm>
          <a:prstGeom prst="rect">
            <a:avLst/>
          </a:prstGeom>
          <a:noFill/>
        </p:spPr>
        <p:txBody>
          <a:bodyPr wrap="square" lIns="0" tIns="0" rIns="0" bIns="0" anchor="t">
            <a:noAutofit/>
          </a:bodyPr>
          <a:lstStyle/>
          <a:p>
            <a:pPr marL="0" algn="l" indent="0">
              <a:lnSpc>
                <a:spcPct val="100000"/>
              </a:lnSpc>
              <a:spcBef>
                <a:spcPts val="0"/>
              </a:spcBef>
              <a:spcAft>
                <a:spcPts val="0"/>
              </a:spcAft>
              <a:buNone/>
            </a:pPr>
            <a:r>
              <a:rPr lang="en-US" sz="1400" b="1" i="0" spc="112" cap="all">
                <a:solidFill>
                  <a:srgbClr val="545A55"/>
                </a:solidFill>
                <a:latin typeface="+mn-lt"/>
                <a:cs typeface="+mn-cs"/>
              </a:rPr>
              <a:t>oldest tree on BonsaiHub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p:txBody>
          <a:bodyPr lIns="0" tIns="0" rIns="0" bIns="64413" wrap="square" anchor="b">
            <a:noAutofit/>
          </a:bodyPr>
          <a:lstStyle/>
          <a:p>
            <a:pPr marL="0" algn="l" indent="0">
              <a:lnSpc>
                <a:spcPct val="100000"/>
              </a:lnSpc>
              <a:spcBef>
                <a:spcPts val="0"/>
              </a:spcBef>
              <a:spcAft>
                <a:spcPts val="0"/>
              </a:spcAft>
              <a:buNone/>
            </a:pPr>
            <a:r>
              <a:rPr lang="en-US" sz="4800" b="1" i="0" spc="0">
                <a:solidFill>
                  <a:srgbClr val="1E2422"/>
                </a:solidFill>
                <a:latin typeface="+mj-lt"/>
                <a:cs typeface="+mj-cs"/>
              </a:rPr>
              <a:t>Four features, built for decades, not seconds</a:t>
            </a:r>
          </a:p>
        </p:txBody>
      </p:sp>
      <p:sp>
        <p:nvSpPr>
          <p:cNvPr id="5" name="keyline"/>
          <p:cNvSpPr/>
          <p:nvPr/>
        </p:nvSpPr>
        <p:spPr>
          <a:xfrm>
            <a:off x="540000" y="2169000"/>
            <a:ext cx="11112000" cy="43200"/>
          </a:xfrm>
          <a:prstGeom prst="rect">
            <a:avLst/>
          </a:prstGeom>
          <a:solidFill>
            <a:srgbClr val="1E2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main-table"/>
          <p:cNvGraphicFramePr>
            <a:graphicFrameLocks noGrp="1"/>
          </p:cNvGraphicFramePr>
          <p:nvPr/>
        </p:nvGraphicFramePr>
        <p:xfrm>
          <a:off x="540000" y="2349000"/>
          <a:ext cx="11112000" cy="3330000"/>
        </p:xfrm>
        <a:graphic>
          <a:graphicData uri="http://schemas.openxmlformats.org/drawingml/2006/table">
            <a:tbl>
              <a:tblPr>
                <a:tableStyleId>{2D5ABB26-0587-4C30-8999-92F81FD0307C}</a:tableStyleId>
              </a:tblPr>
              <a:tblGrid>
                <a:gridCol w="2753717"/>
                <a:gridCol w="8358283"/>
              </a:tblGrid>
              <a:tr h="310642">
                <a:tc>
                  <a:txBody>
                    <a:bodyPr/>
                    <a:lstStyle/>
                    <a:p>
                      <a:pPr marL="0" algn="l" indent="0">
                        <a:lnSpc>
                          <a:spcPct val="100000"/>
                        </a:lnSpc>
                        <a:spcBef>
                          <a:spcPts val="0"/>
                        </a:spcBef>
                        <a:spcAft>
                          <a:spcPts val="0"/>
                        </a:spcAft>
                        <a:buNone/>
                      </a:pPr>
                      <a:r>
                        <a:rPr lang="en-US" sz="1400" b="1" i="0" spc="112" cap="all">
                          <a:solidFill>
                            <a:srgbClr val="545A55"/>
                          </a:solidFill>
                          <a:latin typeface="+mn-lt"/>
                          <a:cs typeface="+mn-cs"/>
                        </a:rPr>
                        <a:t>Feature</a:t>
                      </a:r>
                    </a:p>
                  </a:txBody>
                  <a:tcPr marL="0" marR="91440" marT="45720" marB="45720">
                    <a:lnL w="0">
                      <a:noFill/>
                    </a:lnL>
                    <a:lnR w="0">
                      <a:noFill/>
                    </a:lnR>
                    <a:lnT w="0">
                      <a:noFill/>
                    </a:lnT>
                    <a:lnB w="9525">
                      <a:solidFill>
                        <a:srgbClr val="B87333"/>
                      </a:solidFill>
                    </a:lnB>
                    <a:noFill/>
                  </a:tcPr>
                </a:tc>
                <a:tc>
                  <a:txBody>
                    <a:bodyPr/>
                    <a:lstStyle/>
                    <a:p>
                      <a:pPr marL="0" algn="l" indent="0">
                        <a:lnSpc>
                          <a:spcPct val="100000"/>
                        </a:lnSpc>
                        <a:spcBef>
                          <a:spcPts val="0"/>
                        </a:spcBef>
                        <a:spcAft>
                          <a:spcPts val="0"/>
                        </a:spcAft>
                        <a:buNone/>
                      </a:pPr>
                      <a:r>
                        <a:rPr lang="en-US" sz="1400" b="1" i="0" spc="112" cap="all">
                          <a:solidFill>
                            <a:srgbClr val="545A55"/>
                          </a:solidFill>
                          <a:latin typeface="+mn-lt"/>
                          <a:cs typeface="+mn-cs"/>
                        </a:rPr>
                        <a:t>What it does</a:t>
                      </a:r>
                    </a:p>
                  </a:txBody>
                  <a:tcPr marL="0" marR="91440" marT="45720" marB="45720">
                    <a:lnL w="0">
                      <a:noFill/>
                    </a:lnL>
                    <a:lnR w="0">
                      <a:noFill/>
                    </a:lnR>
                    <a:lnT w="0">
                      <a:noFill/>
                    </a:lnT>
                    <a:lnB w="9525">
                      <a:solidFill>
                        <a:srgbClr val="B87333"/>
                      </a:solidFill>
                    </a:lnB>
                    <a:noFill/>
                  </a:tcPr>
                </a:tc>
              </a:tr>
              <a:tr h="502878">
                <a:tc>
                  <a:txBody>
                    <a:bodyPr/>
                    <a:lstStyle/>
                    <a:p>
                      <a:pPr marL="0" algn="l" indent="0">
                        <a:lnSpc>
                          <a:spcPct val="110000"/>
                        </a:lnSpc>
                        <a:spcBef>
                          <a:spcPts val="0"/>
                        </a:spcBef>
                        <a:spcAft>
                          <a:spcPts val="600"/>
                        </a:spcAft>
                        <a:buNone/>
                      </a:pPr>
                      <a:r>
                        <a:rPr lang="en-US" sz="2400" b="0" i="0" spc="0">
                          <a:solidFill>
                            <a:srgbClr val="1E2422"/>
                          </a:solidFill>
                          <a:latin typeface="+mn-lt"/>
                          <a:cs typeface="+mn-cs"/>
                        </a:rPr>
                        <a:t>Swipe the front</a:t>
                      </a:r>
                    </a:p>
                  </a:txBody>
                  <a:tcPr marL="0" marR="91440" marT="45720" marB="45720">
                    <a:lnL w="0">
                      <a:noFill/>
                    </a:lnL>
                    <a:lnR w="0">
                      <a:noFill/>
                    </a:lnR>
                    <a:lnT w="0">
                      <a:noFill/>
                    </a:lnT>
                    <a:lnB w="9525">
                      <a:solidFill>
                        <a:srgbClr val="B87333"/>
                      </a:solidFill>
                    </a:lnB>
                    <a:noFill/>
                  </a:tcPr>
                </a:tc>
                <a:tc>
                  <a:txBody>
                    <a:bodyPr/>
                    <a:lstStyle/>
                    <a:p>
                      <a:pPr marL="0" algn="l" indent="0">
                        <a:lnSpc>
                          <a:spcPct val="110000"/>
                        </a:lnSpc>
                        <a:spcBef>
                          <a:spcPts val="0"/>
                        </a:spcBef>
                        <a:spcAft>
                          <a:spcPts val="600"/>
                        </a:spcAft>
                        <a:buNone/>
                      </a:pPr>
                      <a:r>
                        <a:rPr lang="en-US" sz="2400" b="0" i="0" spc="0">
                          <a:solidFill>
                            <a:srgbClr val="1E2422"/>
                          </a:solidFill>
                          <a:latin typeface="+mn-lt"/>
                          <a:cs typeface="+mn-cs"/>
                        </a:rPr>
                        <a:t>A tree from its front, with its age and care needs</a:t>
                      </a:r>
                    </a:p>
                  </a:txBody>
                  <a:tcPr marL="0" marR="91440" marT="45720" marB="45720">
                    <a:lnL w="0">
                      <a:noFill/>
                    </a:lnL>
                    <a:lnR w="0">
                      <a:noFill/>
                    </a:lnR>
                    <a:lnT w="0">
                      <a:noFill/>
                    </a:lnT>
                    <a:lnB w="9525">
                      <a:solidFill>
                        <a:srgbClr val="B87333"/>
                      </a:solidFill>
                    </a:lnB>
                    <a:noFill/>
                  </a:tcPr>
                </a:tc>
              </a:tr>
              <a:tr h="502878">
                <a:tc>
                  <a:txBody>
                    <a:bodyPr/>
                    <a:lstStyle/>
                    <a:p>
                      <a:pPr marL="0" algn="l" indent="0">
                        <a:lnSpc>
                          <a:spcPct val="110000"/>
                        </a:lnSpc>
                        <a:spcBef>
                          <a:spcPts val="0"/>
                        </a:spcBef>
                        <a:spcAft>
                          <a:spcPts val="600"/>
                        </a:spcAft>
                        <a:buNone/>
                      </a:pPr>
                      <a:r>
                        <a:rPr lang="en-US" sz="2400" b="0" i="0" spc="0">
                          <a:solidFill>
                            <a:srgbClr val="1E2422"/>
                          </a:solidFill>
                          <a:latin typeface="+mn-lt"/>
                          <a:cs typeface="+mn-cs"/>
                        </a:rPr>
                        <a:t>Slow Match</a:t>
                      </a:r>
                    </a:p>
                  </a:txBody>
                  <a:tcPr marL="0" marR="91440" marT="45720" marB="45720">
                    <a:lnL w="0">
                      <a:noFill/>
                    </a:lnL>
                    <a:lnR w="0">
                      <a:noFill/>
                    </a:lnR>
                    <a:lnT w="0">
                      <a:noFill/>
                    </a:lnT>
                    <a:lnB w="9525">
                      <a:solidFill>
                        <a:srgbClr val="B87333"/>
                      </a:solidFill>
                    </a:lnB>
                    <a:noFill/>
                  </a:tcPr>
                </a:tc>
                <a:tc>
                  <a:txBody>
                    <a:bodyPr/>
                    <a:lstStyle/>
                    <a:p>
                      <a:pPr marL="0" algn="l" indent="0">
                        <a:lnSpc>
                          <a:spcPct val="110000"/>
                        </a:lnSpc>
                        <a:spcBef>
                          <a:spcPts val="0"/>
                        </a:spcBef>
                        <a:spcAft>
                          <a:spcPts val="600"/>
                        </a:spcAft>
                        <a:buNone/>
                      </a:pPr>
                      <a:r>
                        <a:rPr lang="en-US" sz="2400" b="0" i="0" spc="0">
                          <a:solidFill>
                            <a:srgbClr val="1E2422"/>
                          </a:solidFill>
                          <a:latin typeface="+mn-lt"/>
                          <a:cs typeface="+mn-cs"/>
                        </a:rPr>
                        <a:t>A match unlocks after a full season of visits</a:t>
                      </a:r>
                    </a:p>
                  </a:txBody>
                  <a:tcPr marL="0" marR="91440" marT="45720" marB="45720">
                    <a:lnL w="0">
                      <a:noFill/>
                    </a:lnL>
                    <a:lnR w="0">
                      <a:noFill/>
                    </a:lnR>
                    <a:lnT w="0">
                      <a:noFill/>
                    </a:lnT>
                    <a:lnB w="9525">
                      <a:solidFill>
                        <a:srgbClr val="B87333"/>
                      </a:solidFill>
                    </a:lnB>
                    <a:noFill/>
                  </a:tcPr>
                </a:tc>
              </a:tr>
              <a:tr h="502878">
                <a:tc>
                  <a:txBody>
                    <a:bodyPr/>
                    <a:lstStyle/>
                    <a:p>
                      <a:pPr marL="0" algn="l" indent="0">
                        <a:lnSpc>
                          <a:spcPct val="110000"/>
                        </a:lnSpc>
                        <a:spcBef>
                          <a:spcPts val="0"/>
                        </a:spcBef>
                        <a:spcAft>
                          <a:spcPts val="600"/>
                        </a:spcAft>
                        <a:buNone/>
                      </a:pPr>
                      <a:r>
                        <a:rPr lang="en-US" sz="2400" b="0" i="0" spc="0">
                          <a:solidFill>
                            <a:srgbClr val="1E2422"/>
                          </a:solidFill>
                          <a:latin typeface="+mn-lt"/>
                          <a:cs typeface="+mn-cs"/>
                        </a:rPr>
                        <a:t>The Hub</a:t>
                      </a:r>
                    </a:p>
                  </a:txBody>
                  <a:tcPr marL="0" marR="91440" marT="45720" marB="45720">
                    <a:lnL w="0">
                      <a:noFill/>
                    </a:lnL>
                    <a:lnR w="0">
                      <a:noFill/>
                    </a:lnR>
                    <a:lnT w="0">
                      <a:noFill/>
                    </a:lnT>
                    <a:lnB w="9525">
                      <a:solidFill>
                        <a:srgbClr val="B87333"/>
                      </a:solidFill>
                    </a:lnB>
                    <a:noFill/>
                  </a:tcPr>
                </a:tc>
                <a:tc>
                  <a:txBody>
                    <a:bodyPr/>
                    <a:lstStyle/>
                    <a:p>
                      <a:pPr marL="0" algn="l" indent="0">
                        <a:lnSpc>
                          <a:spcPct val="110000"/>
                        </a:lnSpc>
                        <a:spcBef>
                          <a:spcPts val="0"/>
                        </a:spcBef>
                        <a:spcAft>
                          <a:spcPts val="600"/>
                        </a:spcAft>
                        <a:buNone/>
                      </a:pPr>
                      <a:r>
                        <a:rPr lang="en-US" sz="2400" b="0" i="0" spc="0">
                          <a:solidFill>
                            <a:srgbClr val="1E2422"/>
                          </a:solidFill>
                          <a:latin typeface="+mn-lt"/>
                          <a:cs typeface="+mn-cs"/>
                        </a:rPr>
                        <a:t>Close-ups of surface roots, bark and deadwood</a:t>
                      </a:r>
                    </a:p>
                  </a:txBody>
                  <a:tcPr marL="0" marR="91440" marT="45720" marB="45720">
                    <a:lnL w="0">
                      <a:noFill/>
                    </a:lnL>
                    <a:lnR w="0">
                      <a:noFill/>
                    </a:lnR>
                    <a:lnT w="0">
                      <a:noFill/>
                    </a:lnT>
                    <a:lnB w="9525">
                      <a:solidFill>
                        <a:srgbClr val="B87333"/>
                      </a:solidFill>
                    </a:lnB>
                    <a:noFill/>
                  </a:tcPr>
                </a:tc>
              </a:tr>
              <a:tr h="502878">
                <a:tc>
                  <a:txBody>
                    <a:bodyPr/>
                    <a:lstStyle/>
                    <a:p>
                      <a:pPr marL="0" algn="l" indent="0">
                        <a:lnSpc>
                          <a:spcPct val="110000"/>
                        </a:lnSpc>
                        <a:spcBef>
                          <a:spcPts val="0"/>
                        </a:spcBef>
                        <a:spcAft>
                          <a:spcPts val="600"/>
                        </a:spcAft>
                        <a:buNone/>
                      </a:pPr>
                      <a:r>
                        <a:rPr lang="en-US" sz="2400" b="0" i="0" spc="0">
                          <a:solidFill>
                            <a:srgbClr val="1E2422"/>
                          </a:solidFill>
                          <a:latin typeface="+mn-lt"/>
                          <a:cs typeface="+mn-cs"/>
                        </a:rPr>
                        <a:t>Wire Check</a:t>
                      </a:r>
                    </a:p>
                  </a:txBody>
                  <a:tcPr marL="0" marR="91440" marT="45720" marB="45720">
                    <a:lnL w="0">
                      <a:noFill/>
                    </a:lnL>
                    <a:lnR w="0">
                      <a:noFill/>
                    </a:lnR>
                    <a:lnT w="0">
                      <a:noFill/>
                    </a:lnT>
                    <a:lnB w="9525">
                      <a:solidFill>
                        <a:srgbClr val="B87333"/>
                      </a:solidFill>
                    </a:lnB>
                    <a:noFill/>
                  </a:tcPr>
                </a:tc>
                <a:tc>
                  <a:txBody>
                    <a:bodyPr/>
                    <a:lstStyle/>
                    <a:p>
                      <a:pPr marL="0" algn="l" indent="0">
                        <a:lnSpc>
                          <a:spcPct val="110000"/>
                        </a:lnSpc>
                        <a:spcBef>
                          <a:spcPts val="0"/>
                        </a:spcBef>
                        <a:spcAft>
                          <a:spcPts val="600"/>
                        </a:spcAft>
                        <a:buNone/>
                      </a:pPr>
                      <a:r>
                        <a:rPr lang="en-US" sz="2400" b="0" i="0" spc="0">
                          <a:solidFill>
                            <a:srgbClr val="1E2422"/>
                          </a:solidFill>
                          <a:latin typeface="+mn-lt"/>
                          <a:cs typeface="+mn-cs"/>
                        </a:rPr>
                        <a:t>A reminder to take wire off before it cuts</a:t>
                      </a:r>
                    </a:p>
                  </a:txBody>
                  <a:tcPr marL="0" marR="91440" marT="45720" marB="45720">
                    <a:lnL w="0">
                      <a:noFill/>
                    </a:lnL>
                    <a:lnR w="0">
                      <a:noFill/>
                    </a:lnR>
                    <a:lnT w="0">
                      <a:noFill/>
                    </a:lnT>
                    <a:lnB w="9525">
                      <a:solidFill>
                        <a:srgbClr val="B87333"/>
                      </a:solidFill>
                    </a:lnB>
                    <a:no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p:txBody>
          <a:bodyPr lIns="0" tIns="0" rIns="0" bIns="0" wrap="square" anchor="t">
            <a:noAutofit/>
          </a:bodyPr>
          <a:lstStyle/>
          <a:p>
            <a:pPr marL="0" algn="l" indent="0">
              <a:lnSpc>
                <a:spcPct val="100000"/>
              </a:lnSpc>
              <a:spcBef>
                <a:spcPts val="0"/>
              </a:spcBef>
              <a:spcAft>
                <a:spcPts val="0"/>
              </a:spcAft>
              <a:buNone/>
            </a:pPr>
            <a:r>
              <a:rPr lang="en-US" sz="6000" b="1" i="0" spc="0">
                <a:solidFill>
                  <a:srgbClr val="1E2422"/>
                </a:solidFill>
                <a:latin typeface="+mj-lt"/>
                <a:cs typeface="+mj-cs"/>
              </a:rPr>
              <a:t>No match before a full season of visits</a:t>
            </a:r>
          </a:p>
        </p:txBody>
      </p:sp>
      <p:sp>
        <p:nvSpPr>
          <p:cNvPr id="3" name="main"/>
          <p:cNvSpPr>
            <a:spLocks noGrp="1"/>
          </p:cNvSpPr>
          <p:nvPr>
            <p:ph type="body" idx="1"/>
          </p:nvPr>
        </p:nvSpPr>
        <p:spPr/>
        <p:txBody>
          <a:bodyPr lIns="0" tIns="0" rIns="0" bIns="0" wrap="square" anchor="t">
            <a:noAutofit/>
          </a:bodyPr>
          <a:lstStyle/>
          <a:p>
            <a:pPr marL="0" algn="l" indent="0">
              <a:lnSpc>
                <a:spcPct val="110000"/>
              </a:lnSpc>
              <a:spcBef>
                <a:spcPts val="0"/>
              </a:spcBef>
              <a:spcAft>
                <a:spcPts val="0"/>
              </a:spcAft>
              <a:buNone/>
            </a:pPr>
            <a:r>
              <a:rPr lang="en-US" sz="2800" b="0" i="0" spc="0">
                <a:solidFill>
                  <a:srgbClr val="1E2422"/>
                </a:solidFill>
                <a:latin typeface="+mn-lt"/>
                <a:cs typeface="+mn-cs"/>
              </a:rPr>
              <a:t>Slow Match keeps anyone from adopting a juniper on impulse. The wait is the product.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p:txBody>
          <a:bodyPr lIns="0" tIns="0" rIns="0" bIns="64413" wrap="square" anchor="b">
            <a:noAutofit/>
          </a:bodyPr>
          <a:lstStyle/>
          <a:p>
            <a:pPr marL="0" algn="l" indent="0">
              <a:lnSpc>
                <a:spcPct val="100000"/>
              </a:lnSpc>
              <a:spcBef>
                <a:spcPts val="0"/>
              </a:spcBef>
              <a:spcAft>
                <a:spcPts val="0"/>
              </a:spcAft>
              <a:buNone/>
            </a:pPr>
            <a:r>
              <a:rPr lang="en-US" sz="4800" b="1" i="0" spc="0">
                <a:solidFill>
                  <a:srgbClr val="1E2422"/>
                </a:solidFill>
                <a:latin typeface="+mj-lt"/>
                <a:cs typeface="+mj-cs"/>
              </a:rPr>
              <a:t>Slow adoptions almost never get reversed</a:t>
            </a:r>
          </a:p>
        </p:txBody>
      </p:sp>
      <p:sp>
        <p:nvSpPr>
          <p:cNvPr id="4" name="side"/>
          <p:cNvSpPr>
            <a:spLocks noGrp="1"/>
          </p:cNvSpPr>
          <p:nvPr>
            <p:ph type="body" idx="2"/>
          </p:nvPr>
        </p:nvSpPr>
        <p:spPr/>
        <p:txBody>
          <a:bodyPr lIns="0" tIns="0" rIns="0" bIns="0" wrap="square" anchor="t">
            <a:noAutofit/>
          </a:bodyPr>
          <a:lstStyle/>
          <a:p>
            <a:pPr marL="0" algn="l" indent="0">
              <a:lnSpc>
                <a:spcPct val="110000"/>
              </a:lnSpc>
              <a:spcBef>
                <a:spcPts val="0"/>
              </a:spcBef>
              <a:spcAft>
                <a:spcPts val="600"/>
              </a:spcAft>
              <a:buNone/>
            </a:pPr>
            <a:r>
              <a:rPr lang="en-US" sz="2400" b="0" i="0" spc="0">
                <a:solidFill>
                  <a:srgbClr val="1E2422"/>
                </a:solidFill>
                <a:latin typeface="+mn-lt"/>
                <a:cs typeface="+mn-cs"/>
              </a:rPr>
              <a:t>Every keeper visits a tree for a season before adopting it. By then they know its front, its roots and its dealbreakers.</a:t>
            </a:r>
          </a:p>
        </p:txBody>
      </p:sp>
      <p:sp>
        <p:nvSpPr>
          <p:cNvPr id="5" name="footer"/>
          <p:cNvSpPr>
            <a:spLocks noGrp="1"/>
          </p:cNvSpPr>
          <p:nvPr>
            <p:ph type="body" idx="3"/>
          </p:nvPr>
        </p:nvSpPr>
        <p:spPr/>
        <p:txBody>
          <a:bodyPr lIns="0" tIns="0" rIns="0" bIns="0" wrap="square" anchor="t">
            <a:noAutofit/>
          </a:bodyPr>
          <a:lstStyle/>
          <a:p>
            <a:pPr marL="0" algn="l" indent="0">
              <a:lnSpc>
                <a:spcPct val="100000"/>
              </a:lnSpc>
              <a:spcBef>
                <a:spcPts val="0"/>
              </a:spcBef>
              <a:spcAft>
                <a:spcPts val="0"/>
              </a:spcAft>
              <a:buNone/>
            </a:pPr>
            <a:r>
              <a:rPr lang="en-US" sz="1200" b="0" i="0" spc="0">
                <a:solidFill>
                  <a:srgbClr val="545A55"/>
                </a:solidFill>
                <a:latin typeface="+mn-lt"/>
                <a:cs typeface="+mn-cs"/>
              </a:rPr>
              <a:t>Source: BonsaiHub adoption records, September 2026 (fictional)</a:t>
            </a:r>
          </a:p>
        </p:txBody>
      </p:sp>
      <p:sp>
        <p:nvSpPr>
          <p:cNvPr id="6" name="keyline"/>
          <p:cNvSpPr/>
          <p:nvPr/>
        </p:nvSpPr>
        <p:spPr>
          <a:xfrm>
            <a:off x="540000" y="2169000"/>
            <a:ext cx="11112000" cy="43200"/>
          </a:xfrm>
          <a:prstGeom prst="rect">
            <a:avLst/>
          </a:prstGeom>
          <a:solidFill>
            <a:srgbClr val="1E2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main-numeral"/>
          <p:cNvSpPr txBox="1"/>
          <p:nvPr/>
        </p:nvSpPr>
        <p:spPr>
          <a:xfrm>
            <a:off x="540000" y="2349000"/>
            <a:ext cx="7348000" cy="1829160"/>
          </a:xfrm>
          <a:prstGeom prst="rect">
            <a:avLst/>
          </a:prstGeom>
          <a:noFill/>
        </p:spPr>
        <p:txBody>
          <a:bodyPr wrap="square" lIns="0" tIns="0" rIns="0" bIns="0" anchor="t">
            <a:noAutofit/>
          </a:bodyPr>
          <a:lstStyle/>
          <a:p>
            <a:pPr marL="0" algn="l" indent="0">
              <a:lnSpc>
                <a:spcPct val="100000"/>
              </a:lnSpc>
              <a:spcBef>
                <a:spcPts val="0"/>
              </a:spcBef>
              <a:spcAft>
                <a:spcPts val="0"/>
              </a:spcAft>
              <a:buNone/>
            </a:pPr>
            <a:r>
              <a:rPr lang="en-US" sz="12000" b="1" i="0" spc="0">
                <a:solidFill>
                  <a:srgbClr val="3E6B2C"/>
                </a:solidFill>
                <a:latin typeface="+mj-lt"/>
                <a:cs typeface="+mj-cs"/>
              </a:rPr>
              <a:t>0.4%</a:t>
            </a:r>
          </a:p>
        </p:txBody>
      </p:sp>
      <p:sp>
        <p:nvSpPr>
          <p:cNvPr id="8" name="main-label"/>
          <p:cNvSpPr txBox="1"/>
          <p:nvPr/>
        </p:nvSpPr>
        <p:spPr>
          <a:xfrm>
            <a:off x="540000" y="4178160"/>
            <a:ext cx="7348000" cy="1500840"/>
          </a:xfrm>
          <a:prstGeom prst="rect">
            <a:avLst/>
          </a:prstGeom>
          <a:noFill/>
        </p:spPr>
        <p:txBody>
          <a:bodyPr wrap="square" lIns="0" tIns="0" rIns="0" bIns="0" anchor="t">
            <a:noAutofit/>
          </a:bodyPr>
          <a:lstStyle/>
          <a:p>
            <a:pPr marL="0" algn="l" indent="0">
              <a:lnSpc>
                <a:spcPct val="100000"/>
              </a:lnSpc>
              <a:spcBef>
                <a:spcPts val="0"/>
              </a:spcBef>
              <a:spcAft>
                <a:spcPts val="0"/>
              </a:spcAft>
              <a:buNone/>
            </a:pPr>
            <a:r>
              <a:rPr lang="en-US" sz="1400" b="1" i="0" spc="112" cap="all">
                <a:solidFill>
                  <a:srgbClr val="545A55"/>
                </a:solidFill>
                <a:latin typeface="+mn-lt"/>
                <a:cs typeface="+mn-cs"/>
              </a:rPr>
              <a:t>of adoptions reversed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p:txBody>
          <a:bodyPr lIns="0" tIns="0" rIns="0" bIns="64413" wrap="square" anchor="b">
            <a:noAutofit/>
          </a:bodyPr>
          <a:lstStyle/>
          <a:p>
            <a:pPr marL="0" algn="l" indent="0">
              <a:lnSpc>
                <a:spcPct val="100000"/>
              </a:lnSpc>
              <a:spcBef>
                <a:spcPts val="0"/>
              </a:spcBef>
              <a:spcAft>
                <a:spcPts val="0"/>
              </a:spcAft>
              <a:buNone/>
            </a:pPr>
            <a:r>
              <a:rPr lang="en-US" sz="4800" b="1" i="0" spc="0">
                <a:solidFill>
                  <a:srgbClr val="1E2422"/>
                </a:solidFill>
                <a:latin typeface="+mj-lt"/>
                <a:cs typeface="+mj-cs"/>
              </a:rPr>
              <a:t>Seven in ten keepers stay past their first season</a:t>
            </a:r>
          </a:p>
        </p:txBody>
      </p:sp>
      <p:sp>
        <p:nvSpPr>
          <p:cNvPr id="4" name="side"/>
          <p:cNvSpPr>
            <a:spLocks noGrp="1"/>
          </p:cNvSpPr>
          <p:nvPr>
            <p:ph type="body" idx="2"/>
          </p:nvPr>
        </p:nvSpPr>
        <p:spPr/>
        <p:txBody>
          <a:bodyPr lIns="0" tIns="0" rIns="0" bIns="0" wrap="square" anchor="t">
            <a:noAutofit/>
          </a:bodyPr>
          <a:lstStyle/>
          <a:p>
            <a:pPr marL="0" algn="l" indent="0">
              <a:lnSpc>
                <a:spcPct val="110000"/>
              </a:lnSpc>
              <a:spcBef>
                <a:spcPts val="0"/>
              </a:spcBef>
              <a:spcAft>
                <a:spcPts val="600"/>
              </a:spcAft>
              <a:buNone/>
            </a:pPr>
            <a:r>
              <a:rPr lang="en-US" sz="2400" b="0" i="0" spc="0">
                <a:solidFill>
                  <a:srgbClr val="1E2422"/>
                </a:solidFill>
                <a:latin typeface="+mn-lt"/>
                <a:cs typeface="+mn-cs"/>
              </a:rPr>
              <a:t>Ninety days is about one season. Keepers who wait for a tree stay with it.</a:t>
            </a:r>
          </a:p>
        </p:txBody>
      </p:sp>
      <p:sp>
        <p:nvSpPr>
          <p:cNvPr id="5" name="footer"/>
          <p:cNvSpPr>
            <a:spLocks noGrp="1"/>
          </p:cNvSpPr>
          <p:nvPr>
            <p:ph type="body" idx="3"/>
          </p:nvPr>
        </p:nvSpPr>
        <p:spPr/>
        <p:txBody>
          <a:bodyPr lIns="0" tIns="0" rIns="0" bIns="0" wrap="square" anchor="t">
            <a:noAutofit/>
          </a:bodyPr>
          <a:lstStyle/>
          <a:p>
            <a:pPr marL="0" algn="l" indent="0">
              <a:lnSpc>
                <a:spcPct val="100000"/>
              </a:lnSpc>
              <a:spcBef>
                <a:spcPts val="0"/>
              </a:spcBef>
              <a:spcAft>
                <a:spcPts val="0"/>
              </a:spcAft>
              <a:buNone/>
            </a:pPr>
            <a:r>
              <a:rPr lang="en-US" sz="1200" b="0" i="0" spc="0">
                <a:solidFill>
                  <a:srgbClr val="545A55"/>
                </a:solidFill>
                <a:latin typeface="+mn-lt"/>
                <a:cs typeface="+mn-cs"/>
              </a:rPr>
              <a:t>Source: BonsaiHub product analytics, September 2026 (fictional)</a:t>
            </a:r>
          </a:p>
        </p:txBody>
      </p:sp>
      <p:sp>
        <p:nvSpPr>
          <p:cNvPr id="6" name="keyline"/>
          <p:cNvSpPr/>
          <p:nvPr/>
        </p:nvSpPr>
        <p:spPr>
          <a:xfrm>
            <a:off x="540000" y="2169000"/>
            <a:ext cx="11112000" cy="43200"/>
          </a:xfrm>
          <a:prstGeom prst="rect">
            <a:avLst/>
          </a:prstGeom>
          <a:solidFill>
            <a:srgbClr val="1E2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main-numeral"/>
          <p:cNvSpPr txBox="1"/>
          <p:nvPr/>
        </p:nvSpPr>
        <p:spPr>
          <a:xfrm>
            <a:off x="540000" y="2349000"/>
            <a:ext cx="7348000" cy="1829160"/>
          </a:xfrm>
          <a:prstGeom prst="rect">
            <a:avLst/>
          </a:prstGeom>
          <a:noFill/>
        </p:spPr>
        <p:txBody>
          <a:bodyPr wrap="square" lIns="0" tIns="0" rIns="0" bIns="0" anchor="t">
            <a:noAutofit/>
          </a:bodyPr>
          <a:lstStyle/>
          <a:p>
            <a:pPr marL="0" algn="l" indent="0">
              <a:lnSpc>
                <a:spcPct val="100000"/>
              </a:lnSpc>
              <a:spcBef>
                <a:spcPts val="0"/>
              </a:spcBef>
              <a:spcAft>
                <a:spcPts val="0"/>
              </a:spcAft>
              <a:buNone/>
            </a:pPr>
            <a:r>
              <a:rPr lang="en-US" sz="12000" b="1" i="0" spc="0">
                <a:solidFill>
                  <a:srgbClr val="1E2422"/>
                </a:solidFill>
                <a:latin typeface="+mj-lt"/>
                <a:cs typeface="+mj-cs"/>
              </a:rPr>
              <a:t>71%</a:t>
            </a:r>
          </a:p>
        </p:txBody>
      </p:sp>
      <p:sp>
        <p:nvSpPr>
          <p:cNvPr id="8" name="main-label"/>
          <p:cNvSpPr txBox="1"/>
          <p:nvPr/>
        </p:nvSpPr>
        <p:spPr>
          <a:xfrm>
            <a:off x="540000" y="4178160"/>
            <a:ext cx="7348000" cy="1500840"/>
          </a:xfrm>
          <a:prstGeom prst="rect">
            <a:avLst/>
          </a:prstGeom>
          <a:noFill/>
        </p:spPr>
        <p:txBody>
          <a:bodyPr wrap="square" lIns="0" tIns="0" rIns="0" bIns="0" anchor="t">
            <a:noAutofit/>
          </a:bodyPr>
          <a:lstStyle/>
          <a:p>
            <a:pPr marL="0" algn="l" indent="0">
              <a:lnSpc>
                <a:spcPct val="100000"/>
              </a:lnSpc>
              <a:spcBef>
                <a:spcPts val="0"/>
              </a:spcBef>
              <a:spcAft>
                <a:spcPts val="0"/>
              </a:spcAft>
              <a:buNone/>
            </a:pPr>
            <a:r>
              <a:rPr lang="en-US" sz="1400" b="1" i="0" spc="112" cap="all">
                <a:solidFill>
                  <a:srgbClr val="545A55"/>
                </a:solidFill>
                <a:latin typeface="+mn-lt"/>
                <a:cs typeface="+mn-cs"/>
              </a:rPr>
              <a:t>90-day keeper retention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p:txBody>
          <a:bodyPr lIns="0" tIns="0" rIns="0" bIns="64413" wrap="square" anchor="b">
            <a:noAutofit/>
          </a:bodyPr>
          <a:lstStyle/>
          <a:p>
            <a:pPr marL="0" algn="l" indent="0">
              <a:lnSpc>
                <a:spcPct val="100000"/>
              </a:lnSpc>
              <a:spcBef>
                <a:spcPts val="0"/>
              </a:spcBef>
              <a:spcAft>
                <a:spcPts val="0"/>
              </a:spcAft>
              <a:buNone/>
            </a:pPr>
            <a:r>
              <a:rPr lang="en-US" sz="4800" b="1" i="0" spc="0">
                <a:solidFill>
                  <a:srgbClr val="1E2422"/>
                </a:solidFill>
                <a:latin typeface="+mj-lt"/>
                <a:cs typeface="+mj-cs"/>
              </a:rPr>
              <a:t>Active keepers grew every month since April</a:t>
            </a:r>
          </a:p>
        </p:txBody>
      </p:sp>
      <p:sp>
        <p:nvSpPr>
          <p:cNvPr id="4" name="footer"/>
          <p:cNvSpPr>
            <a:spLocks noGrp="1"/>
          </p:cNvSpPr>
          <p:nvPr>
            <p:ph type="body" idx="3"/>
          </p:nvPr>
        </p:nvSpPr>
        <p:spPr/>
        <p:txBody>
          <a:bodyPr lIns="0" tIns="0" rIns="0" bIns="0" wrap="square" anchor="t">
            <a:noAutofit/>
          </a:bodyPr>
          <a:lstStyle/>
          <a:p>
            <a:pPr marL="0" algn="l" indent="0">
              <a:lnSpc>
                <a:spcPct val="100000"/>
              </a:lnSpc>
              <a:spcBef>
                <a:spcPts val="0"/>
              </a:spcBef>
              <a:spcAft>
                <a:spcPts val="0"/>
              </a:spcAft>
              <a:buNone/>
            </a:pPr>
            <a:r>
              <a:rPr lang="en-US" sz="1200" b="0" i="0" spc="0">
                <a:solidFill>
                  <a:srgbClr val="545A55"/>
                </a:solidFill>
                <a:latin typeface="+mn-lt"/>
                <a:cs typeface="+mn-cs"/>
              </a:rPr>
              <a:t>Source: BonsaiHub product analytics, April to September 2026 (fictional)</a:t>
            </a:r>
          </a:p>
        </p:txBody>
      </p:sp>
      <p:sp>
        <p:nvSpPr>
          <p:cNvPr id="5" name="keyline"/>
          <p:cNvSpPr/>
          <p:nvPr/>
        </p:nvSpPr>
        <p:spPr>
          <a:xfrm>
            <a:off x="540000" y="2169000"/>
            <a:ext cx="11112000" cy="43200"/>
          </a:xfrm>
          <a:prstGeom prst="rect">
            <a:avLst/>
          </a:prstGeom>
          <a:solidFill>
            <a:srgbClr val="1E2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main-chart"/>
          <p:cNvGraphicFramePr>
            <a:graphicFrameLocks noGrp="1"/>
          </p:cNvGraphicFramePr>
          <p:nvPr/>
        </p:nvGraphicFramePr>
        <p:xfrm>
          <a:off x="540000" y="2349000"/>
          <a:ext cx="11112000" cy="3330000"/>
        </p:xfrm>
        <a:graphic>
          <a:graphicData uri="http://schemas.openxmlformats.org/drawingml/2006/chart">
            <c:chart xmlns:c="http://schemas.openxmlformats.org/drawingml/2006/chart" r:id="rId2"/>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p:txBody>
          <a:bodyPr lIns="0" tIns="0" rIns="0" bIns="64413" wrap="square" anchor="b">
            <a:noAutofit/>
          </a:bodyPr>
          <a:lstStyle/>
          <a:p>
            <a:pPr marL="0" algn="l" indent="0">
              <a:lnSpc>
                <a:spcPct val="100000"/>
              </a:lnSpc>
              <a:spcBef>
                <a:spcPts val="0"/>
              </a:spcBef>
              <a:spcAft>
                <a:spcPts val="0"/>
              </a:spcAft>
              <a:buNone/>
            </a:pPr>
            <a:r>
              <a:rPr lang="en-US" sz="4800" b="1" i="0" spc="0">
                <a:solidFill>
                  <a:srgbClr val="1E2422"/>
                </a:solidFill>
                <a:latin typeface="+mj-lt"/>
                <a:cs typeface="+mj-cs"/>
              </a:rPr>
              <a:t>12,400 trees are already waiting for a keeper</a:t>
            </a:r>
          </a:p>
        </p:txBody>
      </p:sp>
      <p:sp>
        <p:nvSpPr>
          <p:cNvPr id="4" name="side"/>
          <p:cNvSpPr>
            <a:spLocks noGrp="1"/>
          </p:cNvSpPr>
          <p:nvPr>
            <p:ph type="body" idx="2"/>
          </p:nvPr>
        </p:nvSpPr>
        <p:spPr/>
        <p:txBody>
          <a:bodyPr lIns="0" tIns="0" rIns="0" bIns="0" wrap="square" anchor="t">
            <a:noAutofit/>
          </a:bodyPr>
          <a:lstStyle/>
          <a:p>
            <a:pPr marL="0" algn="l" indent="0">
              <a:lnSpc>
                <a:spcPct val="110000"/>
              </a:lnSpc>
              <a:spcBef>
                <a:spcPts val="0"/>
              </a:spcBef>
              <a:spcAft>
                <a:spcPts val="600"/>
              </a:spcAft>
              <a:buNone/>
            </a:pPr>
            <a:r>
              <a:rPr lang="en-US" sz="2400" b="0" i="0" spc="0">
                <a:solidFill>
                  <a:srgbClr val="1E2422"/>
                </a:solidFill>
                <a:latin typeface="+mn-lt"/>
                <a:cs typeface="+mn-cs"/>
              </a:rPr>
              <a:t>The trees are already here. Growth now depends on keepers patient enough to visit them.</a:t>
            </a:r>
          </a:p>
        </p:txBody>
      </p:sp>
      <p:sp>
        <p:nvSpPr>
          <p:cNvPr id="5" name="footer"/>
          <p:cNvSpPr>
            <a:spLocks noGrp="1"/>
          </p:cNvSpPr>
          <p:nvPr>
            <p:ph type="body" idx="3"/>
          </p:nvPr>
        </p:nvSpPr>
        <p:spPr/>
        <p:txBody>
          <a:bodyPr lIns="0" tIns="0" rIns="0" bIns="0" wrap="square" anchor="t">
            <a:noAutofit/>
          </a:bodyPr>
          <a:lstStyle/>
          <a:p>
            <a:pPr marL="0" algn="l" indent="0">
              <a:lnSpc>
                <a:spcPct val="100000"/>
              </a:lnSpc>
              <a:spcBef>
                <a:spcPts val="0"/>
              </a:spcBef>
              <a:spcAft>
                <a:spcPts val="0"/>
              </a:spcAft>
              <a:buNone/>
            </a:pPr>
            <a:r>
              <a:rPr lang="en-US" sz="1200" b="0" i="0" spc="0">
                <a:solidFill>
                  <a:srgbClr val="545A55"/>
                </a:solidFill>
                <a:latin typeface="+mn-lt"/>
                <a:cs typeface="+mn-cs"/>
              </a:rPr>
              <a:t>Source: BonsaiHub waitlist, September 2026 (fictional)</a:t>
            </a:r>
          </a:p>
        </p:txBody>
      </p:sp>
      <p:sp>
        <p:nvSpPr>
          <p:cNvPr id="6" name="keyline"/>
          <p:cNvSpPr/>
          <p:nvPr/>
        </p:nvSpPr>
        <p:spPr>
          <a:xfrm>
            <a:off x="540000" y="2169000"/>
            <a:ext cx="11112000" cy="43200"/>
          </a:xfrm>
          <a:prstGeom prst="rect">
            <a:avLst/>
          </a:prstGeom>
          <a:solidFill>
            <a:srgbClr val="1E2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main-numeral"/>
          <p:cNvSpPr txBox="1"/>
          <p:nvPr/>
        </p:nvSpPr>
        <p:spPr>
          <a:xfrm>
            <a:off x="540000" y="2349000"/>
            <a:ext cx="7348000" cy="1829160"/>
          </a:xfrm>
          <a:prstGeom prst="rect">
            <a:avLst/>
          </a:prstGeom>
          <a:noFill/>
        </p:spPr>
        <p:txBody>
          <a:bodyPr wrap="square" lIns="0" tIns="0" rIns="0" bIns="0" anchor="t">
            <a:noAutofit/>
          </a:bodyPr>
          <a:lstStyle/>
          <a:p>
            <a:pPr marL="0" algn="l" indent="0">
              <a:lnSpc>
                <a:spcPct val="100000"/>
              </a:lnSpc>
              <a:spcBef>
                <a:spcPts val="0"/>
              </a:spcBef>
              <a:spcAft>
                <a:spcPts val="0"/>
              </a:spcAft>
              <a:buNone/>
            </a:pPr>
            <a:r>
              <a:rPr lang="en-US" sz="12000" b="1" i="0" spc="0">
                <a:solidFill>
                  <a:srgbClr val="1E2422"/>
                </a:solidFill>
                <a:latin typeface="+mj-lt"/>
                <a:cs typeface="+mj-cs"/>
              </a:rPr>
              <a:t>12,400</a:t>
            </a:r>
          </a:p>
        </p:txBody>
      </p:sp>
      <p:sp>
        <p:nvSpPr>
          <p:cNvPr id="8" name="main-label"/>
          <p:cNvSpPr txBox="1"/>
          <p:nvPr/>
        </p:nvSpPr>
        <p:spPr>
          <a:xfrm>
            <a:off x="540000" y="4178160"/>
            <a:ext cx="7348000" cy="1500840"/>
          </a:xfrm>
          <a:prstGeom prst="rect">
            <a:avLst/>
          </a:prstGeom>
          <a:noFill/>
        </p:spPr>
        <p:txBody>
          <a:bodyPr wrap="square" lIns="0" tIns="0" rIns="0" bIns="0" anchor="t">
            <a:noAutofit/>
          </a:bodyPr>
          <a:lstStyle/>
          <a:p>
            <a:pPr marL="0" algn="l" indent="0">
              <a:lnSpc>
                <a:spcPct val="100000"/>
              </a:lnSpc>
              <a:spcBef>
                <a:spcPts val="0"/>
              </a:spcBef>
              <a:spcAft>
                <a:spcPts val="0"/>
              </a:spcAft>
              <a:buNone/>
            </a:pPr>
            <a:r>
              <a:rPr lang="en-US" sz="1400" b="1" i="0" spc="112" cap="all">
                <a:solidFill>
                  <a:srgbClr val="545A55"/>
                </a:solidFill>
                <a:latin typeface="+mn-lt"/>
                <a:cs typeface="+mn-cs"/>
              </a:rPr>
              <a:t>trees on the waitlist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p:txBody>
          <a:bodyPr lIns="0" tIns="0" rIns="0" bIns="64413" wrap="square" anchor="b">
            <a:noAutofit/>
          </a:bodyPr>
          <a:lstStyle/>
          <a:p>
            <a:pPr marL="0" algn="l" indent="0">
              <a:lnSpc>
                <a:spcPct val="100000"/>
              </a:lnSpc>
              <a:spcBef>
                <a:spcPts val="0"/>
              </a:spcBef>
              <a:spcAft>
                <a:spcPts val="0"/>
              </a:spcAft>
              <a:buNone/>
            </a:pPr>
            <a:r>
              <a:rPr lang="en-US" sz="4800" b="1" i="0" spc="0">
                <a:solidFill>
                  <a:srgbClr val="1E2422"/>
                </a:solidFill>
                <a:latin typeface="+mj-lt"/>
                <a:cs typeface="+mj-cs"/>
              </a:rPr>
              <a:t>Revenue starts with Seasonal Boost at $4.99 a month</a:t>
            </a:r>
          </a:p>
        </p:txBody>
      </p:sp>
      <p:sp>
        <p:nvSpPr>
          <p:cNvPr id="4" name="side"/>
          <p:cNvSpPr>
            <a:spLocks noGrp="1"/>
          </p:cNvSpPr>
          <p:nvPr>
            <p:ph type="body" idx="2"/>
          </p:nvPr>
        </p:nvSpPr>
        <p:spPr/>
        <p:txBody>
          <a:bodyPr lIns="0" tIns="0" rIns="0" bIns="0" wrap="square" anchor="t">
            <a:noAutofit/>
          </a:bodyPr>
          <a:lstStyle/>
          <a:p>
            <a:pPr marL="0" algn="l" indent="0">
              <a:lnSpc>
                <a:spcPct val="110000"/>
              </a:lnSpc>
              <a:spcBef>
                <a:spcPts val="0"/>
              </a:spcBef>
              <a:spcAft>
                <a:spcPts val="600"/>
              </a:spcAft>
              <a:buNone/>
            </a:pPr>
            <a:r>
              <a:rPr lang="en-US" sz="2400" b="0" i="0" spc="0">
                <a:solidFill>
                  <a:srgbClr val="1E2422"/>
                </a:solidFill>
                <a:latin typeface="+mn-lt"/>
                <a:cs typeface="+mn-cs"/>
              </a:rPr>
              <a:t>Seasonal Boost is BonsaiHub's paid plan, billed by the month.</a:t>
            </a:r>
          </a:p>
        </p:txBody>
      </p:sp>
      <p:sp>
        <p:nvSpPr>
          <p:cNvPr id="5" name="footer"/>
          <p:cNvSpPr>
            <a:spLocks noGrp="1"/>
          </p:cNvSpPr>
          <p:nvPr>
            <p:ph type="body" idx="3"/>
          </p:nvPr>
        </p:nvSpPr>
        <p:spPr/>
        <p:txBody>
          <a:bodyPr lIns="0" tIns="0" rIns="0" bIns="0" wrap="square" anchor="t">
            <a:noAutofit/>
          </a:bodyPr>
          <a:lstStyle/>
          <a:p>
            <a:pPr marL="0" algn="l" indent="0">
              <a:lnSpc>
                <a:spcPct val="100000"/>
              </a:lnSpc>
              <a:spcBef>
                <a:spcPts val="0"/>
              </a:spcBef>
              <a:spcAft>
                <a:spcPts val="0"/>
              </a:spcAft>
              <a:buNone/>
            </a:pPr>
            <a:r>
              <a:rPr lang="en-US" sz="1200" b="0" i="0" spc="0">
                <a:solidFill>
                  <a:srgbClr val="545A55"/>
                </a:solidFill>
                <a:latin typeface="+mn-lt"/>
                <a:cs typeface="+mn-cs"/>
              </a:rPr>
              <a:t>Source: BonsaiHub price list (fictional)</a:t>
            </a:r>
          </a:p>
        </p:txBody>
      </p:sp>
      <p:sp>
        <p:nvSpPr>
          <p:cNvPr id="6" name="keyline"/>
          <p:cNvSpPr/>
          <p:nvPr/>
        </p:nvSpPr>
        <p:spPr>
          <a:xfrm>
            <a:off x="540000" y="2169000"/>
            <a:ext cx="11112000" cy="43200"/>
          </a:xfrm>
          <a:prstGeom prst="rect">
            <a:avLst/>
          </a:prstGeom>
          <a:solidFill>
            <a:srgbClr val="1E2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main-numeral"/>
          <p:cNvSpPr txBox="1"/>
          <p:nvPr/>
        </p:nvSpPr>
        <p:spPr>
          <a:xfrm>
            <a:off x="540000" y="2349000"/>
            <a:ext cx="7348000" cy="1829160"/>
          </a:xfrm>
          <a:prstGeom prst="rect">
            <a:avLst/>
          </a:prstGeom>
          <a:noFill/>
        </p:spPr>
        <p:txBody>
          <a:bodyPr wrap="square" lIns="0" tIns="0" rIns="0" bIns="0" anchor="t">
            <a:noAutofit/>
          </a:bodyPr>
          <a:lstStyle/>
          <a:p>
            <a:pPr marL="0" algn="l" indent="0">
              <a:lnSpc>
                <a:spcPct val="100000"/>
              </a:lnSpc>
              <a:spcBef>
                <a:spcPts val="0"/>
              </a:spcBef>
              <a:spcAft>
                <a:spcPts val="0"/>
              </a:spcAft>
              <a:buNone/>
            </a:pPr>
            <a:r>
              <a:rPr lang="en-US" sz="12000" b="1" i="0" spc="0">
                <a:solidFill>
                  <a:srgbClr val="1E2422"/>
                </a:solidFill>
                <a:latin typeface="+mj-lt"/>
                <a:cs typeface="+mj-cs"/>
              </a:rPr>
              <a:t>$4.99</a:t>
            </a:r>
          </a:p>
        </p:txBody>
      </p:sp>
      <p:sp>
        <p:nvSpPr>
          <p:cNvPr id="8" name="main-label"/>
          <p:cNvSpPr txBox="1"/>
          <p:nvPr/>
        </p:nvSpPr>
        <p:spPr>
          <a:xfrm>
            <a:off x="540000" y="4178160"/>
            <a:ext cx="7348000" cy="1500840"/>
          </a:xfrm>
          <a:prstGeom prst="rect">
            <a:avLst/>
          </a:prstGeom>
          <a:noFill/>
        </p:spPr>
        <p:txBody>
          <a:bodyPr wrap="square" lIns="0" tIns="0" rIns="0" bIns="0" anchor="t">
            <a:noAutofit/>
          </a:bodyPr>
          <a:lstStyle/>
          <a:p>
            <a:pPr marL="0" algn="l" indent="0">
              <a:lnSpc>
                <a:spcPct val="100000"/>
              </a:lnSpc>
              <a:spcBef>
                <a:spcPts val="0"/>
              </a:spcBef>
              <a:spcAft>
                <a:spcPts val="0"/>
              </a:spcAft>
              <a:buNone/>
            </a:pPr>
            <a:r>
              <a:rPr lang="en-US" sz="1400" b="1" i="0" spc="112" cap="all">
                <a:solidFill>
                  <a:srgbClr val="545A55"/>
                </a:solidFill>
                <a:latin typeface="+mn-lt"/>
                <a:cs typeface="+mn-cs"/>
              </a:rPr>
              <a:t>a month for Seasonal Boost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p:txBody>
          <a:bodyPr lIns="0" tIns="0" rIns="0" bIns="88568" wrap="square" anchor="b">
            <a:noAutofit/>
          </a:bodyPr>
          <a:lstStyle/>
          <a:p>
            <a:pPr marL="0" algn="l" indent="0">
              <a:lnSpc>
                <a:spcPct val="100000"/>
              </a:lnSpc>
              <a:spcBef>
                <a:spcPts val="0"/>
              </a:spcBef>
              <a:spcAft>
                <a:spcPts val="0"/>
              </a:spcAft>
              <a:buNone/>
            </a:pPr>
            <a:r>
              <a:rPr lang="en-US" sz="6600" b="1" i="0" spc="0">
                <a:solidFill>
                  <a:srgbClr val="1E2422"/>
                </a:solidFill>
                <a:latin typeface="+mj-lt"/>
                <a:cs typeface="+mj-cs"/>
              </a:rPr>
              <a:t>Ask us for a second visit</a:t>
            </a:r>
          </a:p>
        </p:txBody>
      </p:sp>
      <p:sp>
        <p:nvSpPr>
          <p:cNvPr id="3" name="main"/>
          <p:cNvSpPr>
            <a:spLocks noGrp="1"/>
          </p:cNvSpPr>
          <p:nvPr>
            <p:ph type="body" idx="1"/>
          </p:nvPr>
        </p:nvSpPr>
        <p:spPr/>
        <p:txBody>
          <a:bodyPr lIns="0" tIns="0" rIns="0" bIns="0" wrap="square" anchor="t">
            <a:noAutofit/>
          </a:bodyPr>
          <a:lstStyle/>
          <a:p>
            <a:pPr marL="0" algn="l" indent="0">
              <a:lnSpc>
                <a:spcPct val="110000"/>
              </a:lnSpc>
              <a:spcBef>
                <a:spcPts val="0"/>
              </a:spcBef>
              <a:spcAft>
                <a:spcPts val="0"/>
              </a:spcAft>
              <a:buNone/>
            </a:pPr>
            <a:r>
              <a:rPr lang="en-US" sz="2800" b="0" i="0" spc="0">
                <a:solidFill>
                  <a:srgbClr val="1E2422"/>
                </a:solidFill>
                <a:latin typeface="+mn-lt"/>
                <a:cs typeface="+mn-cs"/>
              </a:rPr>
              <a:t>We are raising a $1.2M seed round. Next: Slow Match in Da Lat and Kyoto.</a:t>
            </a:r>
          </a:p>
        </p:txBody>
      </p:sp>
      <p:sp>
        <p:nvSpPr>
          <p:cNvPr id="4" name="footer"/>
          <p:cNvSpPr>
            <a:spLocks noGrp="1"/>
          </p:cNvSpPr>
          <p:nvPr>
            <p:ph type="body" idx="3"/>
          </p:nvPr>
        </p:nvSpPr>
        <p:spPr/>
        <p:txBody>
          <a:bodyPr lIns="0" tIns="0" rIns="0" bIns="0" wrap="square" anchor="t">
            <a:noAutofit/>
          </a:bodyPr>
          <a:lstStyle/>
          <a:p>
            <a:pPr marL="0" algn="l" indent="0">
              <a:lnSpc>
                <a:spcPct val="100000"/>
              </a:lnSpc>
              <a:spcBef>
                <a:spcPts val="0"/>
              </a:spcBef>
              <a:spcAft>
                <a:spcPts val="0"/>
              </a:spcAft>
              <a:buNone/>
            </a:pPr>
            <a:r>
              <a:rPr lang="en-US" sz="1200" b="0" i="0" spc="0">
                <a:solidFill>
                  <a:srgbClr val="545A55"/>
                </a:solidFill>
                <a:latin typeface="+mn-lt"/>
                <a:cs typeface="+mn-cs"/>
              </a:rPr>
              <a:t>Source: BonsaiHub fundraising plan (fictional)</a:t>
            </a:r>
          </a:p>
          <a:p>
            <a:pPr marL="0" algn="l" indent="0">
              <a:lnSpc>
                <a:spcPct val="100000"/>
              </a:lnSpc>
              <a:spcBef>
                <a:spcPts val="0"/>
              </a:spcBef>
              <a:spcAft>
                <a:spcPts val="0"/>
              </a:spcAft>
              <a:buNone/>
            </a:pPr>
            <a:r>
              <a:rPr lang="en-US" sz="1200" b="0" i="0" spc="0">
                <a:solidFill>
                  <a:srgbClr val="545A55"/>
                </a:solidFill>
                <a:latin typeface="+mn-lt"/>
                <a:cs typeface="+mn-cs"/>
              </a:rPr>
              <a:t>Note: BonsaiHub is a parody. Its trees and every number in this deck are fictional.</a:t>
            </a:r>
          </a:p>
        </p:txBody>
      </p:sp>
    </p:spTree>
  </p:cSld>
  <p:clrMapOvr>
    <a:masterClrMapping/>
  </p:clrMapOvr>
</p:sld>
</file>

<file path=ppt/theme/theme1.xml><?xml version="1.0" encoding="utf-8"?>
<a:theme xmlns:a="http://schemas.openxmlformats.org/drawingml/2006/main" name="keyline swiss">
  <a:themeElements>
    <a:clrScheme name="swiss">
      <a:dk1>
        <a:srgbClr val="1E2422"/>
      </a:dk1>
      <a:lt1>
        <a:srgbClr val="E6E7E3"/>
      </a:lt1>
      <a:dk2>
        <a:srgbClr val="545A55"/>
      </a:dk2>
      <a:lt2>
        <a:srgbClr val="B87333"/>
      </a:lt2>
      <a:accent1>
        <a:srgbClr val="3E6B2C"/>
      </a:accent1>
      <a:accent2>
        <a:srgbClr val="A9CB86"/>
      </a:accent2>
      <a:accent3>
        <a:srgbClr val="545A55"/>
      </a:accent3>
      <a:accent4>
        <a:srgbClr val="B87333"/>
      </a:accent4>
      <a:accent5>
        <a:srgbClr val="1E2422"/>
      </a:accent5>
      <a:accent6>
        <a:srgbClr val="545A55"/>
      </a:accent6>
      <a:hlink>
        <a:srgbClr val="1E2422"/>
      </a:hlink>
      <a:folHlink>
        <a:srgbClr val="545A55"/>
      </a:folHlink>
    </a:clrScheme>
    <a:fontScheme name="swiss">
      <a:majorFont>
        <a:latin typeface="Georgia"/>
        <a:ea typeface=""/>
        <a:cs typeface="Georgia"/>
      </a:majorFont>
      <a:minorFont>
        <a:latin typeface="Calibri"/>
        <a:ea typeface=""/>
        <a:cs typeface="Calibri"/>
      </a:minorFont>
    </a:fontScheme>
    <a:fmtScheme name="swiss">
      <a:fillStyleLst>
        <a:solidFill>
          <a:schemeClr val="phClr"/>
        </a:solidFill>
        <a:solidFill>
          <a:schemeClr val="phClr"/>
        </a:solidFill>
        <a:solidFill>
          <a:schemeClr val="phClr"/>
        </a:solidFill>
      </a:fillStyleLst>
      <a:lnStyleLst>
        <a:ln w="6350">
          <a:solidFill>
            <a:schemeClr val="phClr"/>
          </a:solidFill>
        </a:ln>
        <a:ln w="6350">
          <a:solidFill>
            <a:schemeClr val="phClr"/>
          </a:solidFill>
        </a:ln>
        <a:ln w="63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Application>keyline</Application>
  <PresentationFormat>Widescreen</PresentationFormat>
</Properties>
</file>

<file path=docProps/core.xml><?xml version="1.0" encoding="utf-8"?>
<cp:coreProperties xmlns:cp="http://schemas.openxmlformats.org/package/2006/metadata/core-properties" xmlns:dc="http://purl.org/dc/elements/1.1/" xmlns:dcterms="http://purl.org/dc/terms/" xmlns:xsi="http://www.w3.org/2001/XMLSchema-instance">
  <dc:title>keyline swiss inline (presented)</dc:title>
  <dc:creator>Tyler</dc:creator>
  <cp:lastModifiedBy>Tyler</cp:lastModifiedBy>
  <cp:revision>1</cp:revision>
  <dcterms:created xsi:type="dcterms:W3CDTF">2026-09-27T00:00:00Z</dcterms:created>
  <dcterms:modified xsi:type="dcterms:W3CDTF">2026-09-27T00:00:00Z</dcterms:modified>
</cp:coreProperties>
</file>